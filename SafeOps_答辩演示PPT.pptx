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68" r:id="rId4"/>
    <p:sldId id="276" r:id="rId6"/>
    <p:sldId id="391" r:id="rId7"/>
    <p:sldId id="564" r:id="rId8"/>
    <p:sldId id="575" r:id="rId9"/>
    <p:sldId id="565" r:id="rId10"/>
    <p:sldId id="566" r:id="rId11"/>
    <p:sldId id="574" r:id="rId12"/>
    <p:sldId id="443" r:id="rId13"/>
    <p:sldId id="571" r:id="rId14"/>
    <p:sldId id="559" r:id="rId15"/>
    <p:sldId id="573" r:id="rId16"/>
    <p:sldId id="569" r:id="rId17"/>
    <p:sldId id="568" r:id="rId18"/>
    <p:sldId id="570" r:id="rId19"/>
    <p:sldId id="277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34" initials="8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2A752"/>
    <a:srgbClr val="34A853"/>
    <a:srgbClr val="EA4031"/>
    <a:srgbClr val="61BB79"/>
    <a:srgbClr val="33A852"/>
    <a:srgbClr val="30A650"/>
    <a:srgbClr val="9C0000"/>
    <a:srgbClr val="D94C31"/>
    <a:srgbClr val="0149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9" autoAdjust="0"/>
    <p:restoredTop sz="94923" autoAdjust="0"/>
  </p:normalViewPr>
  <p:slideViewPr>
    <p:cSldViewPr snapToGrid="0" showGuides="1">
      <p:cViewPr varScale="1">
        <p:scale>
          <a:sx n="80" d="100"/>
          <a:sy n="80" d="100"/>
        </p:scale>
        <p:origin x="423" y="39"/>
      </p:cViewPr>
      <p:guideLst>
        <p:guide orient="horz" pos="2160"/>
        <p:guide pos="39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commentAuthors" Target="commentAuthors.xml"/><Relationship Id="rId25" Type="http://schemas.openxmlformats.org/officeDocument/2006/relationships/tags" Target="tags/tag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tjnu_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2595" y="103505"/>
            <a:ext cx="2698115" cy="669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7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 userDrawn="1"/>
        </p:nvSpPr>
        <p:spPr>
          <a:xfrm>
            <a:off x="701167" y="144940"/>
            <a:ext cx="1005395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3016288" y="239783"/>
              <a:ext cx="13852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INTRODUCTION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tjnu_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2595" y="103505"/>
            <a:ext cx="2698115" cy="669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2.jpeg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image" Target="../media/image3.png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254000" y="144940"/>
            <a:ext cx="12252295" cy="582295"/>
            <a:chOff x="-254000" y="144940"/>
            <a:chExt cx="12252295" cy="582295"/>
          </a:xfrm>
        </p:grpSpPr>
        <p:grpSp>
          <p:nvGrpSpPr>
            <p:cNvPr id="8" name="组合 7"/>
            <p:cNvGrpSpPr/>
            <p:nvPr/>
          </p:nvGrpSpPr>
          <p:grpSpPr>
            <a:xfrm>
              <a:off x="-254000" y="201683"/>
              <a:ext cx="898070" cy="523220"/>
              <a:chOff x="-254000" y="201683"/>
              <a:chExt cx="898070" cy="523220"/>
            </a:xfrm>
          </p:grpSpPr>
          <p:sp>
            <p:nvSpPr>
              <p:cNvPr id="13" name="圆角矩形 10"/>
              <p:cNvSpPr/>
              <p:nvPr/>
            </p:nvSpPr>
            <p:spPr>
              <a:xfrm>
                <a:off x="-254000" y="227083"/>
                <a:ext cx="898070" cy="439668"/>
              </a:xfrm>
              <a:prstGeom prst="roundRect">
                <a:avLst>
                  <a:gd name="adj" fmla="val 50000"/>
                </a:avLst>
              </a:prstGeom>
              <a:solidFill>
                <a:srgbClr val="0149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65706" y="201683"/>
                <a:ext cx="4676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533527" y="144940"/>
              <a:ext cx="11464768" cy="582295"/>
              <a:chOff x="533527" y="144940"/>
              <a:chExt cx="11464768" cy="582295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533527" y="144940"/>
                <a:ext cx="2620010" cy="582295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《雅典学院》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  <p:sp>
            <p:nvSpPr>
              <p:cNvPr id="12" name="文本框 11"/>
              <p:cNvSpPr txBox="1"/>
              <p:nvPr/>
            </p:nvSpPr>
            <p:spPr>
              <a:xfrm>
                <a:off x="3363595" y="201930"/>
                <a:ext cx="4860925" cy="36830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拉斐尔的代表作，艺术登峰与精神追求的交融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microsoft.com/office/2007/relationships/hdphoto" Target="../media/image5.wdp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microsoft.com/office/2007/relationships/hdphoto" Target="../media/image5.wdp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84090" y="0"/>
            <a:ext cx="2545080" cy="2557780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0"/>
            <a:ext cx="12192000" cy="1634689"/>
          </a:xfrm>
          <a:prstGeom prst="rect">
            <a:avLst/>
          </a:prstGeom>
          <a:gradFill flip="none" rotWithShape="1">
            <a:gsLst>
              <a:gs pos="0">
                <a:srgbClr val="014924"/>
              </a:gs>
              <a:gs pos="51000">
                <a:srgbClr val="014924"/>
              </a:gs>
              <a:gs pos="80000">
                <a:srgbClr val="014924">
                  <a:alpha val="80000"/>
                </a:srgbClr>
              </a:gs>
              <a:gs pos="100000">
                <a:srgbClr val="014924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26490" y="2929255"/>
            <a:ext cx="100139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5400" b="1">
                <a:solidFill>
                  <a:srgbClr val="014924"/>
                </a:solidFill>
                <a:latin typeface="微软雅黑" panose="020B0503020204020204" pitchFamily="34" charset="-122"/>
              </a:rPr>
              <a:t>SafeOps Agent：面向麒麟操作系统的安全智能运维 Agent</a:t>
            </a:r>
            <a:endParaRPr sz="5400" b="1">
              <a:solidFill>
                <a:srgbClr val="0149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32896" y="5376566"/>
            <a:ext cx="680052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chemeClr val="bg1"/>
                </a:solidFill>
                <a:latin typeface="方正小标宋简体" panose="03000509000000000000" charset="-122"/>
              </a:rPr>
              <a:t>汇报队伍：</a:t>
            </a:r>
            <a:r>
              <a:rPr lang="en-US" sz="2800" b="1">
                <a:solidFill>
                  <a:schemeClr val="bg1"/>
                </a:solidFill>
                <a:latin typeface="方正小标宋简体" panose="03000509000000000000" charset="-122"/>
              </a:rPr>
              <a:t>G</a:t>
            </a:r>
            <a:r>
              <a:rPr lang="zh-CN" altLang="en-US" sz="2800" b="1">
                <a:solidFill>
                  <a:schemeClr val="bg1"/>
                </a:solidFill>
                <a:latin typeface="方正小标宋简体" panose="03000509000000000000" charset="-122"/>
              </a:rPr>
              <a:t>老师饲养大队</a:t>
            </a:r>
            <a:endParaRPr lang="zh-CN" altLang="en-US" sz="2800" b="1">
              <a:solidFill>
                <a:schemeClr val="bg1"/>
              </a:solidFill>
              <a:latin typeface="方正小标宋简体" panose="03000509000000000000" charset="-122"/>
            </a:endParaRPr>
          </a:p>
          <a:p>
            <a:r>
              <a:rPr lang="zh-CN" altLang="en-US" sz="2800" b="1">
                <a:solidFill>
                  <a:schemeClr val="bg1"/>
                </a:solidFill>
                <a:latin typeface="方正小标宋简体" panose="03000509000000000000" charset="-122"/>
              </a:rPr>
              <a:t>参赛队员：队长：</a:t>
            </a:r>
            <a:r>
              <a:rPr lang="zh-CN" altLang="en-US" sz="2800" b="1">
                <a:solidFill>
                  <a:schemeClr val="bg1"/>
                </a:solidFill>
                <a:latin typeface="方正小标宋简体" panose="03000509000000000000" charset="-122"/>
              </a:rPr>
              <a:t>鲍灿辉</a:t>
            </a:r>
            <a:endParaRPr lang="zh-CN" altLang="en-US" sz="2800" b="1">
              <a:solidFill>
                <a:schemeClr val="bg1"/>
              </a:solidFill>
              <a:latin typeface="方正小标宋简体" panose="03000509000000000000" charset="-122"/>
            </a:endParaRPr>
          </a:p>
          <a:p>
            <a:pPr marL="1371600" lvl="3" indent="457200"/>
            <a:r>
              <a:rPr lang="zh-CN" altLang="en-US" sz="2800" b="1">
                <a:solidFill>
                  <a:schemeClr val="bg1"/>
                </a:solidFill>
                <a:latin typeface="方正小标宋简体" panose="03000509000000000000" charset="-122"/>
              </a:rPr>
              <a:t>成员：石雅禛</a:t>
            </a:r>
            <a:r>
              <a:rPr lang="en-US" altLang="zh-CN" sz="2800" b="1">
                <a:solidFill>
                  <a:schemeClr val="bg1"/>
                </a:solidFill>
                <a:latin typeface="方正小标宋简体" panose="03000509000000000000" charset="-122"/>
              </a:rPr>
              <a:t>  </a:t>
            </a:r>
            <a:r>
              <a:rPr lang="zh-CN" altLang="en-US" sz="2800" b="1">
                <a:solidFill>
                  <a:schemeClr val="bg1"/>
                </a:solidFill>
                <a:latin typeface="方正小标宋简体" panose="03000509000000000000" charset="-122"/>
              </a:rPr>
              <a:t>刘衷博</a:t>
            </a:r>
            <a:endParaRPr lang="zh-CN" altLang="en-US" sz="2800" b="1">
              <a:solidFill>
                <a:schemeClr val="bg1"/>
              </a:solidFill>
              <a:latin typeface="方正小标宋简体" panose="03000509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715" y="551180"/>
            <a:ext cx="1687830" cy="1684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611658" y="2611657"/>
            <a:ext cx="6858001" cy="1634689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47980" y="1354455"/>
            <a:ext cx="1013460" cy="36449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</a:endParaRPr>
          </a:p>
        </p:txBody>
      </p: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2768001" y="2298065"/>
            <a:ext cx="767990" cy="767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2663806" y="2392731"/>
            <a:ext cx="976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2768001" y="3404870"/>
            <a:ext cx="767990" cy="767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2768001" y="4482465"/>
            <a:ext cx="767990" cy="767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dirty="0"/>
          </a:p>
        </p:txBody>
      </p:sp>
      <p:sp>
        <p:nvSpPr>
          <p:cNvPr id="32" name="矩形 31"/>
          <p:cNvSpPr/>
          <p:nvPr>
            <p:custDataLst>
              <p:tags r:id="rId5"/>
            </p:custDataLst>
          </p:nvPr>
        </p:nvSpPr>
        <p:spPr>
          <a:xfrm>
            <a:off x="2768001" y="1273810"/>
            <a:ext cx="767990" cy="767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2663806" y="1368476"/>
            <a:ext cx="976380" cy="65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7"/>
            </p:custDataLst>
          </p:nvPr>
        </p:nvSpPr>
        <p:spPr>
          <a:xfrm>
            <a:off x="3888105" y="1434465"/>
            <a:ext cx="30861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方正小标宋简体" panose="03000509000000000000" charset="-122"/>
                <a:ea typeface="方正小标宋简体" panose="03000509000000000000" charset="-122"/>
              </a:rPr>
              <a:t>赛题背景与目标</a:t>
            </a:r>
            <a:endParaRPr lang="zh-CN" altLang="en-US" sz="2800">
              <a:latin typeface="方正小标宋简体" panose="03000509000000000000" charset="-122"/>
              <a:ea typeface="方正小标宋简体" panose="03000509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3888105" y="2454275"/>
            <a:ext cx="2207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方正小标宋简体" panose="03000509000000000000" charset="-122"/>
                <a:ea typeface="方正小标宋简体" panose="03000509000000000000" charset="-122"/>
              </a:rPr>
              <a:t>技术架构与安全</a:t>
            </a:r>
            <a:endParaRPr lang="zh-CN" altLang="en-US" sz="2800">
              <a:latin typeface="方正小标宋简体" panose="03000509000000000000" charset="-122"/>
              <a:ea typeface="方正小标宋简体" panose="03000509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3888105" y="347408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>
                <a:latin typeface="方正小标宋简体" panose="03000509000000000000" charset="-122"/>
                <a:ea typeface="方正小标宋简体" panose="03000509000000000000" charset="-122"/>
              </a:rPr>
              <a:t>功能成果与验证</a:t>
            </a:r>
            <a:endParaRPr lang="zh-CN" altLang="en-US" sz="2800">
              <a:latin typeface="方正小标宋简体" panose="03000509000000000000" charset="-122"/>
              <a:ea typeface="方正小标宋简体" panose="03000509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3888105" y="46818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方正小标宋简体" panose="03000509000000000000" charset="-122"/>
                <a:ea typeface="方正小标宋简体" panose="03000509000000000000" charset="-122"/>
              </a:rPr>
              <a:t>演示、边界与展望</a:t>
            </a:r>
            <a:endParaRPr lang="zh-CN" altLang="en-US" sz="2800">
              <a:latin typeface="方正小标宋简体" panose="03000509000000000000" charset="-122"/>
              <a:ea typeface="方正小标宋简体" panose="03000509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功能成果与验证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1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1.1 赛题定位与项目目标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84805" y="1388110"/>
            <a:ext cx="902970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chemeClr val="bg1"/>
                </a:solidFill>
                <a:latin typeface="方正小标宋简体" panose="03000509000000000000" charset="-122"/>
              </a:rPr>
              <a:t>赛题A 组：面向麒麟操作系统的安全智能运维 Agent 设计与实现</a:t>
            </a:r>
            <a:endParaRPr sz="2400" b="1">
              <a:solidFill>
                <a:schemeClr val="bg1"/>
              </a:solidFill>
              <a:latin typeface="方正小标宋简体" panose="03000509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87675" y="2018030"/>
            <a:ext cx="8926830" cy="44653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pitchFamily="34" charset="-122"/>
              </a:rPr>
              <a:t>目标：在自然语言与麒麟/Linux 运维之间建立一条可控、可解释、可追溯的执行链。</a:t>
            </a:r>
            <a:endParaRPr sz="2400" b="1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pitchFamily="34" charset="-122"/>
              </a:rPr>
              <a:t>方案：模型或离线规则只选择候选工具；25 个固定工具与本地策略完成参数校验和 LOW/MEDIUM/HIGH 裁决；一次性令牌保证预演与执行一致；CLI、Web、MCP 全部进入脱敏、SHA/HMAC 签名审计。</a:t>
            </a:r>
            <a:endParaRPr sz="2400" b="1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功能成果与验证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1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1.2 已完成研发阶段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0705" y="1388110"/>
            <a:ext cx="8813514" cy="38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chemeClr val="bg1"/>
                </a:solidFill>
                <a:latin typeface="方正小标宋简体" panose="03000509000000000000" charset="-122"/>
              </a:rPr>
              <a:t>从安全闭环到可交付系统</a:t>
            </a:r>
            <a:endParaRPr lang="zh-CN" altLang="en-US" sz="2400" b="1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2842908" y="1943172"/>
          <a:ext cx="9262110" cy="4365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5470"/>
                <a:gridCol w="3429539"/>
                <a:gridCol w="3977101"/>
              </a:tblGrid>
              <a:tr h="565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</a:t>
                      </a:r>
                      <a:endParaRPr lang="zh-CN" altLang="en-US" sz="2400" b="1" dirty="0">
                        <a:solidFill>
                          <a:srgbClr val="000000"/>
                        </a:solidFill>
                        <a:latin typeface="方正小标宋简体" panose="03000509000000000000" charset="-122"/>
                        <a:ea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阶段目标</a:t>
                      </a:r>
                      <a:endParaRPr lang="zh-CN" altLang="en-US" sz="2400" b="1">
                        <a:solidFill>
                          <a:srgbClr val="000000"/>
                        </a:solidFill>
                        <a:latin typeface="方正小标宋简体" panose="03000509000000000000" charset="-122"/>
                        <a:ea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已完成工作</a:t>
                      </a:r>
                      <a:endParaRPr sz="2400" b="1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949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阶段一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/>
                        <a:t>受控主链路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/>
                        <a:t>CLI / Agent / Policy / Tool Registry；25 个固定工具，无任意 Shell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949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阶段二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确认与可信审计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三级风险、一次性令牌、受管文件快照回滚、SHA/HMAC 与持久化锚点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950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阶段三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智能路由与 MCP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DeepSeek/OpenAI 兼容 Provider + 离线规则；MCP 2025-11-25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949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阶段四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Web 与工程交付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TLS/认证/会话/SSE；wheel 内置资源、自动测试与发布包校验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功能成果与验证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1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1.3 工程质量与验收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0705" y="1388110"/>
            <a:ext cx="8813514" cy="38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chemeClr val="bg1"/>
                </a:solidFill>
                <a:latin typeface="方正小标宋简体" panose="03000509000000000000" charset="-122"/>
              </a:rPr>
              <a:t>自动化、进程联调与发布验证</a:t>
            </a:r>
            <a:endParaRPr lang="zh-CN" altLang="en-US" sz="2400" b="1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2842908" y="1943172"/>
          <a:ext cx="9262110" cy="45652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5470"/>
                <a:gridCol w="3429539"/>
                <a:gridCol w="3977101"/>
              </a:tblGrid>
              <a:tr h="4798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维度</a:t>
                      </a:r>
                      <a:endParaRPr lang="zh-CN" altLang="en-US" sz="2400" b="1" dirty="0">
                        <a:solidFill>
                          <a:srgbClr val="000000"/>
                        </a:solidFill>
                        <a:latin typeface="方正小标宋简体" panose="03000509000000000000" charset="-122"/>
                        <a:ea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当前结果</a:t>
                      </a:r>
                      <a:endParaRPr lang="zh-CN" altLang="en-US" sz="2400" b="1">
                        <a:solidFill>
                          <a:srgbClr val="000000"/>
                        </a:solidFill>
                        <a:latin typeface="方正小标宋简体" panose="03000509000000000000" charset="-122"/>
                        <a:ea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验证内容</a:t>
                      </a:r>
                      <a:endParaRPr sz="2400" b="1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405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自动化质量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/>
                        <a:t>217 Python + 7 Node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/>
                        <a:t>综合覆盖率 72.3%，CI 门槛 70%；ResourceWarning 严格模式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16793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进程与发布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全链路通过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CLI/Web/MCP、审计验签、wheel 隔离安装、95 条目提交包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功能成果与验证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1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583815" y="283845"/>
            <a:ext cx="7137400" cy="9721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sz="2800" b="1">
                <a:latin typeface="微软雅黑" panose="020B0503020204020204" pitchFamily="34" charset="-122"/>
              </a:rPr>
              <a:t>2.1 安全运维闭环与可信审计</a:t>
            </a:r>
            <a:endParaRPr sz="28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0705" y="1388110"/>
            <a:ext cx="470408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chemeClr val="bg1"/>
                </a:solidFill>
                <a:latin typeface="方正小标宋简体" panose="03000509000000000000" charset="-122"/>
              </a:rPr>
              <a:t>受控执行主链路</a:t>
            </a:r>
            <a:endParaRPr lang="zh-CN" altLang="en-US" sz="2400" b="1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46743" y="2127011"/>
            <a:ext cx="9454456" cy="13399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algn="l" defTabSz="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输入高危筛查 → LLM/规则选择候选 → 注册表与 Schema 校验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PolicyEngine：LOW 只读执行 / MEDIUM 预演确认 / HIGH 拒绝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模型没有授权权；真实操作只能进入固定白名单 handler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833712" y="3758079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00732" y="3758031"/>
            <a:ext cx="7315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>
                <a:solidFill>
                  <a:schemeClr val="bg1"/>
                </a:solidFill>
                <a:latin typeface="方正小标宋简体" panose="03000509000000000000" charset="-122"/>
              </a:rPr>
              <a:t>确认与审计闭环</a:t>
            </a:r>
            <a:endParaRPr sz="2400" b="1">
              <a:solidFill>
                <a:schemeClr val="bg1"/>
              </a:solidFill>
              <a:latin typeface="方正小标宋简体" panose="03000509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94635" y="4622165"/>
            <a:ext cx="9357995" cy="1306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MEDIUM 保存已裁决的 tool + args，签发十分钟、会话绑定的一次性令牌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确认阶段不重跑意图识别，重新应用当前策略后精确执行保存动作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结果进入脱敏、SHA-256 链、HMAC、持久化锚点与轮转校验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功能成果与验证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1"/>
            </p:custDataLst>
          </p:nvPr>
        </p:nvSpPr>
        <p:spPr>
          <a:xfrm>
            <a:off x="2842895" y="1388110"/>
            <a:ext cx="9262745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2891155" y="135890"/>
            <a:ext cx="6510020" cy="1120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2.2 大模型、MCP 与 Web 工作台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42895" y="1388110"/>
            <a:ext cx="622300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chemeClr val="bg1"/>
                </a:solidFill>
                <a:latin typeface="方正小标宋简体" panose="03000509000000000000" charset="-122"/>
              </a:rPr>
              <a:t>智能路由与协议接入</a:t>
            </a:r>
            <a:endParaRPr sz="2400" b="1">
              <a:solidFill>
                <a:schemeClr val="bg1"/>
              </a:solidFill>
              <a:latin typeface="方正小标宋简体" panose="03000509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47010" y="2012950"/>
            <a:ext cx="9454515" cy="18878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DeepSeek/OpenAI 兼容 Provider 负责候选工具；RuleBasedProvider 离线兜底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MCP 完成 initialize → initialized → tools/list/tools/call，发布 25 个工具</a:t>
            </a:r>
            <a:r>
              <a:rPr lang="en-US" sz="2000">
                <a:solidFill>
                  <a:srgbClr val="000000"/>
                </a:solidFill>
                <a:latin typeface="微软雅黑" panose="020B0503020204020204" pitchFamily="34" charset="-122"/>
              </a:rPr>
              <a:t/>
            </a: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/>
            </a:r>
            <a:endParaRPr lang="zh-CN" sz="200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真实 deepseek-chat 冒烟成功选择 system.info；网络失败自动回退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833712" y="4189879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00705" y="4189730"/>
            <a:ext cx="7449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>
                <a:solidFill>
                  <a:schemeClr val="bg1"/>
                </a:solidFill>
                <a:latin typeface="方正小标宋简体" panose="03000509000000000000" charset="-122"/>
              </a:rPr>
              <a:t>Web 与状态安全</a:t>
            </a:r>
            <a:endParaRPr sz="2400" b="1">
              <a:solidFill>
                <a:schemeClr val="bg1"/>
              </a:solidFill>
              <a:latin typeface="方正小标宋简体" panose="03000509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34005" y="4815205"/>
            <a:ext cx="9043670" cy="1527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Bearer + HttpOnly/SameSite 会话、限流、SSE、CSP 与输入边界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非回环监听强制 TLS 1.2 和认证；本机开发模式必须显式开启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待确认动作加密写盘，线程锁 + 跨进程锁 + 原子替换避免竞态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功能成果与验证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1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91155" y="295275"/>
            <a:ext cx="6762115" cy="960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2.3 工程化、离线能力与发布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0705" y="1388110"/>
            <a:ext cx="4788236" cy="38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chemeClr val="bg1"/>
                </a:solidFill>
                <a:latin typeface="方正小标宋简体" panose="03000509000000000000" charset="-122"/>
              </a:rPr>
              <a:t>自动化质量</a:t>
            </a:r>
            <a:endParaRPr sz="2400" b="1">
              <a:solidFill>
                <a:schemeClr val="bg1"/>
              </a:solidFill>
              <a:latin typeface="方正小标宋简体" panose="03000509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34005" y="2087880"/>
            <a:ext cx="9180830" cy="1465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4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217 项 Python 测试与 7 项前端 Node 测试全部通过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综合覆盖率 72.3%，CI 门槛 70%，依赖和配置检查均通过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覆盖策略、确认、并发、审计篡改、Web、MCP、安装资源与前端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833712" y="4006364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00732" y="4006316"/>
            <a:ext cx="7315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>
                <a:solidFill>
                  <a:schemeClr val="bg1"/>
                </a:solidFill>
                <a:latin typeface="方正小标宋简体" panose="03000509000000000000" charset="-122"/>
              </a:rPr>
              <a:t>发布与可复现</a:t>
            </a:r>
            <a:endParaRPr sz="2400" b="1">
              <a:solidFill>
                <a:schemeClr val="bg1"/>
              </a:solidFill>
              <a:latin typeface="方正小标宋简体" panose="03000509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34005" y="4631690"/>
            <a:ext cx="9043670" cy="1576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/>
              <a:t>SAFEOPS_LLM_DISABLED=1 一键离线，规则路由覆盖核心运维意图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/>
              <a:t>wheel 内置默认 YAML 和 Web 静态资源，可脱离源码目录运行</a:t>
            </a:r>
            <a:endParaRPr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/>
              <a:t>95 条目提交包自动排除 API Key、data/、缓存和 Git 元数据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2173866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3.1 整体架构设计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23724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310" y="236559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6388" y="3407886"/>
            <a:ext cx="2336800" cy="5649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功能成果与验证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7310" y="447116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842895" y="1355725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Picture 33" descr="kernelsag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865" y="1797685"/>
            <a:ext cx="8949055" cy="5033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2173866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3.2 关键设计：安全护栏与可信审计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23724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310" y="236559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6388" y="3407886"/>
            <a:ext cx="2336800" cy="5649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功能成果与验证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7310" y="447116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00705" y="1388110"/>
            <a:ext cx="412369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chemeClr val="bg1"/>
                </a:solidFill>
                <a:latin typeface="方正小标宋简体" panose="03000509000000000000" charset="-122"/>
              </a:rPr>
              <a:t>本地策略不可绕过</a:t>
            </a:r>
            <a:endParaRPr lang="zh-CN" altLang="en-US" sz="2400" b="1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00705" y="2579370"/>
            <a:ext cx="9004300" cy="1707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2400"/>
              <a:t>危险意图在调用模型前拦截；模型输出仍按不可信输入处理。工具存在性、参数类型与范围、注入字符、敏感路径、服务白名单和保护列表全部由本地代码复核；中风险必须持一次性令牌，确认时再次应用当前策略。</a:t>
            </a:r>
            <a:endParaRPr sz="2400"/>
          </a:p>
        </p:txBody>
      </p:sp>
      <p:sp>
        <p:nvSpPr>
          <p:cNvPr id="9" name="文本框 8"/>
          <p:cNvSpPr txBox="1"/>
          <p:nvPr/>
        </p:nvSpPr>
        <p:spPr>
          <a:xfrm>
            <a:off x="3100705" y="2065655"/>
            <a:ext cx="3596640" cy="513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rgbClr val="548235"/>
                </a:solidFill>
                <a:latin typeface="黑体" panose="02010609060101010101" charset="-122"/>
              </a:rPr>
              <a:t>输入筛查、三级风险与确认</a:t>
            </a:r>
            <a:endParaRPr sz="2400" b="1">
              <a:solidFill>
                <a:srgbClr val="548235"/>
              </a:solidFill>
              <a:latin typeface="黑体" panose="0201060906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00705" y="4416425"/>
            <a:ext cx="4566920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rgbClr val="548235"/>
                </a:solidFill>
                <a:latin typeface="黑体" panose="02010609060101010101" charset="-122"/>
              </a:rPr>
              <a:t>结构化决策轨迹与签名审计</a:t>
            </a:r>
            <a:endParaRPr sz="2400" b="1">
              <a:solidFill>
                <a:srgbClr val="548235"/>
              </a:solidFill>
              <a:latin typeface="黑体" panose="020106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00705" y="4944745"/>
            <a:ext cx="8867775" cy="1762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2400"/>
              <a:t>每次请求记录上下文解析、输入筛查、工具选择、风险裁决和执行结果等可复核事实；审计采用 SHA-256 链、HMAC、事件数量与末尾哈希锚点、轮转校验及递归脱敏，可发现内容修改、删除、尾部截断或签名缺失。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320828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4.1 当前核心功能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256926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0" y="2385277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267" y="333636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功能成果与验证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310" y="4490849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891246" y="1506935"/>
            <a:ext cx="9214580" cy="65802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39598" y="1506937"/>
            <a:ext cx="5536110" cy="4916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3200" b="1">
                <a:solidFill>
                  <a:schemeClr val="bg1"/>
                </a:solidFill>
                <a:latin typeface="方正小标宋简体" panose="03000509000000000000" charset="-122"/>
              </a:rPr>
              <a:t>安全运维与证据驱动诊断</a:t>
            </a:r>
            <a:endParaRPr sz="3200" b="1">
              <a:solidFill>
                <a:schemeClr val="bg1"/>
              </a:solidFill>
              <a:latin typeface="方正小标宋简体" panose="03000509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91155" y="2415540"/>
            <a:ext cx="9102725" cy="4286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40000"/>
              </a:lnSpc>
              <a:buFont typeface="Wingdings" panose="05000000000000000000" charset="0"/>
              <a:buChar char="ü"/>
            </a:pPr>
            <a:r>
              <a:rPr sz="2400">
                <a:latin typeface="黑体" panose="02010609060101010101" charset="-122"/>
              </a:rPr>
              <a:t>25 个固定工具：系统、资源、进程、日志、网络、磁盘、用户、计划任务、软件包、服务与受管文件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ü"/>
            </a:pPr>
            <a:r>
              <a:rPr sz="2400">
                <a:latin typeface="黑体" panose="02010609060101010101" charset="-122"/>
              </a:rPr>
              <a:t>六类诊断先采集 CPU/内存/磁盘/端口/服务/日志证据，再按阈值和特征生成原因与建议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ü"/>
            </a:pPr>
            <a:r>
              <a:rPr sz="2400">
                <a:latin typeface="黑体" panose="02010609060101010101" charset="-122"/>
              </a:rPr>
              <a:t>LOW 直行；MEDIUM dry-run + 一次性令牌；HIGH、保护服务和非白名单服务拒绝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ü"/>
            </a:pPr>
            <a:r>
              <a:rPr sz="2400">
                <a:latin typeface="黑体" panose="02010609060101010101" charset="-122"/>
              </a:rPr>
              <a:t>受管文件写前快照、原子写入和真实回滚；服务操作具备前后状态记录与 root 保护</a:t>
            </a:r>
            <a:endParaRPr sz="2400">
              <a:latin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320828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4.2 多入口与交付能力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256926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0" y="2385277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267" y="333636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功能成果与验证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310" y="4490849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891246" y="1506935"/>
            <a:ext cx="9214580" cy="65802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39598" y="1506937"/>
            <a:ext cx="5536110" cy="4916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3200" b="1">
                <a:solidFill>
                  <a:schemeClr val="bg1"/>
                </a:solidFill>
                <a:latin typeface="方正小标宋简体" panose="03000509000000000000" charset="-122"/>
              </a:rPr>
              <a:t>CLI、Web、MCP 共享同一安全内核</a:t>
            </a:r>
            <a:endParaRPr sz="3200" b="1">
              <a:solidFill>
                <a:schemeClr val="bg1"/>
              </a:solidFill>
              <a:latin typeface="方正小标宋简体" panose="03000509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39415" y="2416810"/>
            <a:ext cx="9030335" cy="4338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40000"/>
              </a:lnSpc>
              <a:buFont typeface="Wingdings" panose="05000000000000000000" charset="0"/>
              <a:buChar char="Ø"/>
            </a:pPr>
            <a:r>
              <a:rPr sz="2400">
                <a:latin typeface="黑体" panose="02010609060101010101" charset="-122"/>
              </a:rPr>
              <a:t>CLI 用于脚本与演示；Web 提供登录、对话、确认、决策轨迹与审计筛选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Ø"/>
            </a:pPr>
            <a:r>
              <a:rPr sz="2400">
                <a:latin typeface="黑体" panose="02010609060101010101" charset="-122"/>
              </a:rPr>
              <a:t>MCP 2025-11-25 提供标准生命周期、严格 Schema、annotations 与 safeops.confirm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Ø"/>
            </a:pPr>
            <a:r>
              <a:rPr sz="2400">
                <a:latin typeface="黑体" panose="02010609060101010101" charset="-122"/>
              </a:rPr>
              <a:t>三种入口共享注册表、PolicyEngine、PendingActionStore 和签名审计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Ø"/>
            </a:pPr>
            <a:r>
              <a:rPr sz="2400">
                <a:latin typeface="黑体" panose="02010609060101010101" charset="-122"/>
              </a:rPr>
              <a:t>wheel 可在空工作目录运行；发布包校验关键文件并排除密钥与运行数据</a:t>
            </a:r>
            <a:endParaRPr sz="2400">
              <a:latin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-113665" y="469037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现场演示流程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360" y="3362498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</a:t>
            </a:r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Arial" panose="020B0604020202020204" pitchFamily="34" charset="0"/>
              </a:rPr>
              <a:t>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36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49880" y="1438275"/>
            <a:ext cx="9194800" cy="5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r>
              <a:rPr sz="2200"/>
              <a:t>1. 配置自检：展示 0 个错误、0 个警告，并说明可在线或一键离线。</a:t>
            </a:r>
            <a:endParaRPr sz="220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endParaRPr sz="220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r>
              <a:rPr sz="2200"/>
              <a:t>2. LOW 查询与诊断：系统信息、CPU/内存或端口，展开结构化决策轨迹。</a:t>
            </a:r>
            <a:endParaRPr sz="2200"/>
          </a:p>
          <a:p>
            <a:pPr indent="0">
              <a:lnSpc>
                <a:spcPct val="140000"/>
              </a:lnSpc>
              <a:buFont typeface="Wingdings" panose="05000000000000000000" charset="0"/>
              <a:buNone/>
            </a:pPr>
            <a:endParaRPr sz="220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r>
              <a:rPr sz="2200"/>
              <a:t>3. MEDIUM 预演：重启 nginx 只返回 dry-run 和 action_id，不执行变更。</a:t>
            </a:r>
            <a:endParaRPr sz="220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endParaRPr sz="220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r>
              <a:rPr sz="2200"/>
              <a:t>4. HIGH 拒绝 + 审计验签：拦截 /etc/passwd，演示 Web、MCP 与 verify-audit。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-113665" y="469037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5.2 量化验收结果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360" y="3362498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</a:t>
            </a:r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Arial" panose="020B0604020202020204" pitchFamily="34" charset="0"/>
              </a:rPr>
              <a:t>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36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13050" y="1670050"/>
            <a:ext cx="9228455" cy="4533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2200"/>
              <a:t>自动化：217 项 Python + 7 项 Node 全部通过；综合覆盖率 72.3%。</a:t>
            </a:r>
            <a:endParaRPr sz="22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endParaRPr sz="22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2200"/>
              <a:t>真实进程：CLI LOW/MEDIUM/HIGH、Web API、MCP 25 工具握手与审计验签通过。</a:t>
            </a:r>
            <a:endParaRPr sz="22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endParaRPr sz="22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2200"/>
              <a:t>安装交付：wheel 隔离安装成功；95 条目提交包通过禁止项检查。</a:t>
            </a:r>
            <a:endParaRPr sz="2200"/>
          </a:p>
          <a:p/>
          <a:p>
            <a:r>
              <a:t>在线模型：deepseek-chat 真实请求选择 LOW 工具 system.info 并执行成功。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-113665" y="469037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 已知边界与下一步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项目背景与进展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技术架构与安全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360" y="3362498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</a:t>
            </a:r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Arial" panose="020B0604020202020204" pitchFamily="34" charset="0"/>
              </a:rPr>
              <a:t>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36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演示、边界与展望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87370" y="1351280"/>
            <a:ext cx="8989060" cy="4851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60000"/>
              </a:lnSpc>
              <a:buFont typeface="Wingdings" panose="05000000000000000000" charset="0"/>
              <a:buNone/>
            </a:pPr>
            <a:r>
              <a:rPr sz="2400"/>
              <a:t>已知边界：已完成 Windows 软件级验收与在线模型验证，尚未完成麒麟硬件实机测试。</a:t>
            </a:r>
            <a:endParaRPr sz="2400"/>
          </a:p>
          <a:p>
            <a:pPr marL="342900" indent="-342900">
              <a:lnSpc>
                <a:spcPct val="160000"/>
              </a:lnSpc>
              <a:buFont typeface="Wingdings" panose="05000000000000000000" charset="0"/>
              <a:buChar char="u"/>
            </a:pPr>
            <a:endParaRPr sz="2000"/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sz="2200"/>
              <a:t>下一步一：在真实麒麟环境执行 systemctl / journalctl / ss / rpm 验证清单。</a:t>
            </a:r>
            <a:endParaRPr sz="2200"/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endParaRPr sz="2200"/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sz="2200"/>
              <a:t>下一步二：落地专用低权账号与 sudo 白名单，扩展告警联动和受控自愈。</a:t>
            </a:r>
            <a:r>
              <a:rPr lang="zh-CN" sz="2200"/>
              <a:t/>
            </a:r>
            <a:r>
              <a:rPr sz="2200"/>
              <a:t/>
            </a:r>
            <a:endParaRPr sz="2200"/>
          </a:p>
          <a:p/>
          <a:p>
            <a:r>
              <a:t>答辩口径：已实现功能以自动化和进程证据为准；实机能力明确列为验证计划。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6239" y="3909427"/>
            <a:ext cx="51195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6600" b="1">
                <a:solidFill>
                  <a:srgbClr val="014924"/>
                </a:solidFill>
                <a:latin typeface="微软雅黑" panose="020B0503020204020204" pitchFamily="34" charset="-122"/>
              </a:rPr>
              <a:t>感谢聆听</a:t>
            </a:r>
            <a:endParaRPr sz="6600" b="1">
              <a:solidFill>
                <a:srgbClr val="0149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sz="19900" b="1"/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5" y="1196335"/>
            <a:ext cx="2439190" cy="2439192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804" y="1438170"/>
            <a:ext cx="1936392" cy="19308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2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3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4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5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6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7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8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9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10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11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2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3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4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5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6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7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8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9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20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21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22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23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24.xml><?xml version="1.0" encoding="utf-8"?>
<p:tagLst xmlns:p="http://schemas.openxmlformats.org/presentationml/2006/main">
  <p:tag name="COMMONDATA" val="eyJoZGlkIjoiMzA5ODJjZWVlZjFiNDQ4Nzc0ZDJkZjI4YWRmNTY4NWQifQ=="/>
  <p:tag name="RESOURCE_RECORD_KEY" val="{&quot;29&quot;:[50052448,50049410]}"/>
</p:tagLst>
</file>

<file path=ppt/theme/theme1.xml><?xml version="1.0" encoding="utf-8"?>
<a:theme xmlns:a="http://schemas.openxmlformats.org/drawingml/2006/main" name="Office 主题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拉斐尔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2936</Words>
  <Application>WPS 演示</Application>
  <PresentationFormat>宽屏</PresentationFormat>
  <Paragraphs>305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Calibri</vt:lpstr>
      <vt:lpstr>方正小标宋简体</vt:lpstr>
      <vt:lpstr>Times New Roman</vt:lpstr>
      <vt:lpstr>Wingdings</vt:lpstr>
      <vt:lpstr>黑体</vt:lpstr>
      <vt:lpstr>Arial Unicode MS</vt:lpstr>
      <vt:lpstr>Arial Black</vt:lpstr>
      <vt:lpstr>KSOFBDA573BA</vt:lpstr>
      <vt:lpstr>JetBrains Mono</vt:lpstr>
      <vt:lpstr>等线 Light</vt:lpstr>
      <vt:lpstr>等线</vt:lpstr>
      <vt:lpstr>Calibri</vt:lpstr>
      <vt:lpstr>方正小标宋简体</vt:lpstr>
      <vt:lpstr>Office 主题</vt:lpstr>
      <vt:lpstr>拉斐尔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SafeOps Agent 答辩演示</dc:title>
  <dc:creator>ZK</dc:creator>
  <cp:lastModifiedBy>鲍灿辉</cp:lastModifiedBy>
  <cp:revision>15</cp:revision>
  <dcterms:created xsi:type="dcterms:W3CDTF">2025-06-30T08:12:00Z</dcterms:created>
  <dcterms:modified xsi:type="dcterms:W3CDTF">2026-07-11T08:24:01Z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46BC11F8646F49AD94D1A67D51369191_13</vt:lpwstr>
  </property>
</Properties>
</file>