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wdp" ContentType="image/vnd.ms-photo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3"/>
  </p:sldMasterIdLst>
  <p:notesMasterIdLst>
    <p:notesMasterId r:id="rId5"/>
  </p:notesMasterIdLst>
  <p:sldIdLst>
    <p:sldId id="268" r:id="rId4"/>
    <p:sldId id="276" r:id="rId6"/>
    <p:sldId id="391" r:id="rId7"/>
    <p:sldId id="564" r:id="rId8"/>
    <p:sldId id="575" r:id="rId9"/>
    <p:sldId id="565" r:id="rId10"/>
    <p:sldId id="566" r:id="rId11"/>
    <p:sldId id="574" r:id="rId12"/>
    <p:sldId id="443" r:id="rId13"/>
    <p:sldId id="571" r:id="rId14"/>
    <p:sldId id="559" r:id="rId15"/>
    <p:sldId id="573" r:id="rId16"/>
    <p:sldId id="569" r:id="rId17"/>
    <p:sldId id="568" r:id="rId18"/>
    <p:sldId id="570" r:id="rId19"/>
    <p:sldId id="277" r:id="rId20"/>
  </p:sldIdLst>
  <p:sldSz cx="12192000" cy="6858000"/>
  <p:notesSz cx="6858000" cy="9144000"/>
  <p:custDataLst>
    <p:tags r:id="rId25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962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86134" initials="8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32A752"/>
    <a:srgbClr val="34A853"/>
    <a:srgbClr val="EA4031"/>
    <a:srgbClr val="61BB79"/>
    <a:srgbClr val="33A852"/>
    <a:srgbClr val="30A650"/>
    <a:srgbClr val="9C0000"/>
    <a:srgbClr val="D94C31"/>
    <a:srgbClr val="01492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9" autoAdjust="0"/>
    <p:restoredTop sz="94923" autoAdjust="0"/>
  </p:normalViewPr>
  <p:slideViewPr>
    <p:cSldViewPr snapToGrid="0" showGuides="1">
      <p:cViewPr varScale="1">
        <p:scale>
          <a:sx n="80" d="100"/>
          <a:sy n="80" d="100"/>
        </p:scale>
        <p:origin x="423" y="39"/>
      </p:cViewPr>
      <p:guideLst>
        <p:guide orient="horz" pos="2160"/>
        <p:guide pos="3962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33" d="100"/>
        <a:sy n="33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5" Type="http://schemas.openxmlformats.org/officeDocument/2006/relationships/tags" Target="tags/tag24.xml"/><Relationship Id="rId24" Type="http://schemas.openxmlformats.org/officeDocument/2006/relationships/commentAuthors" Target="commentAuthors.xml"/><Relationship Id="rId23" Type="http://schemas.openxmlformats.org/officeDocument/2006/relationships/tableStyles" Target="tableStyles.xml"/><Relationship Id="rId22" Type="http://schemas.openxmlformats.org/officeDocument/2006/relationships/viewProps" Target="viewProps.xml"/><Relationship Id="rId21" Type="http://schemas.openxmlformats.org/officeDocument/2006/relationships/presProps" Target="presProps.xml"/><Relationship Id="rId20" Type="http://schemas.openxmlformats.org/officeDocument/2006/relationships/slide" Target="slides/slide16.xml"/><Relationship Id="rId2" Type="http://schemas.openxmlformats.org/officeDocument/2006/relationships/theme" Target="theme/theme1.xml"/><Relationship Id="rId19" Type="http://schemas.openxmlformats.org/officeDocument/2006/relationships/slide" Target="slides/slide15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9A552A8-ECE7-49AA-8726-BE90DBC1194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8EAD77-486C-432B-9EE9-E6FD5C91EB8A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8EAD77-486C-432B-9EE9-E6FD5C91EB8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8EAD77-486C-432B-9EE9-E6FD5C91EB8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8EAD77-486C-432B-9EE9-E6FD5C91EB8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8EAD77-486C-432B-9EE9-E6FD5C91EB8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8EAD77-486C-432B-9EE9-E6FD5C91EB8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8EAD77-486C-432B-9EE9-E6FD5C91EB8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8EAD77-486C-432B-9EE9-E6FD5C91EB8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8EAD77-486C-432B-9EE9-E6FD5C91EB8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8EAD77-486C-432B-9EE9-E6FD5C91EB8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8EAD77-486C-432B-9EE9-E6FD5C91EB8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8EAD77-486C-432B-9EE9-E6FD5C91EB8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8EAD77-486C-432B-9EE9-E6FD5C91EB8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8EAD77-486C-432B-9EE9-E6FD5C91EB8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8EAD77-486C-432B-9EE9-E6FD5C91EB8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8EAD77-486C-432B-9EE9-E6FD5C91EB8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8EAD77-486C-432B-9EE9-E6FD5C91EB8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17F9E5-2C3F-427E-9E18-8DB1205C1BD4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635508-54A0-4FB0-A4C5-6467DE85E924}" type="slidenum">
              <a:rPr lang="zh-CN" altLang="en-US" smtClean="0"/>
            </a:fld>
            <a:endParaRPr lang="zh-CN" altLang="en-US"/>
          </a:p>
        </p:txBody>
      </p:sp>
      <p:pic>
        <p:nvPicPr>
          <p:cNvPr id="7" name="图片 6" descr="tjnu_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332595" y="103505"/>
            <a:ext cx="2698115" cy="66929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17F9E5-2C3F-427E-9E18-8DB1205C1BD4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635508-54A0-4FB0-A4C5-6467DE85E924}" type="slidenum">
              <a:rPr lang="zh-CN" altLang="en-US" smtClean="0"/>
            </a:fld>
            <a:endParaRPr lang="zh-CN" altLang="en-US"/>
          </a:p>
        </p:txBody>
      </p:sp>
      <p:grpSp>
        <p:nvGrpSpPr>
          <p:cNvPr id="6" name="组合 5"/>
          <p:cNvGrpSpPr/>
          <p:nvPr userDrawn="1"/>
        </p:nvGrpSpPr>
        <p:grpSpPr>
          <a:xfrm>
            <a:off x="-254000" y="201683"/>
            <a:ext cx="898070" cy="523220"/>
            <a:chOff x="-254000" y="201683"/>
            <a:chExt cx="898070" cy="523220"/>
          </a:xfrm>
          <a:solidFill>
            <a:srgbClr val="C00000"/>
          </a:solidFill>
        </p:grpSpPr>
        <p:sp>
          <p:nvSpPr>
            <p:cNvPr id="7" name="圆角矩形 4"/>
            <p:cNvSpPr/>
            <p:nvPr/>
          </p:nvSpPr>
          <p:spPr>
            <a:xfrm>
              <a:off x="-254000" y="227083"/>
              <a:ext cx="898070" cy="439668"/>
            </a:xfrm>
            <a:prstGeom prst="roundRect">
              <a:avLst>
                <a:gd name="adj" fmla="val 50000"/>
              </a:avLst>
            </a:prstGeom>
            <a:solidFill>
              <a:srgbClr val="01492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" name="文本框 7"/>
            <p:cNvSpPr txBox="1"/>
            <p:nvPr/>
          </p:nvSpPr>
          <p:spPr>
            <a:xfrm>
              <a:off x="65706" y="201683"/>
              <a:ext cx="46769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8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  <a:endParaRPr lang="zh-CN" altLang="en-US" sz="28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9" name="文本框 8"/>
          <p:cNvSpPr txBox="1"/>
          <p:nvPr userDrawn="1"/>
        </p:nvSpPr>
        <p:spPr>
          <a:xfrm>
            <a:off x="701167" y="144940"/>
            <a:ext cx="1005395" cy="584771"/>
          </a:xfrm>
          <a:prstGeom prst="rect">
            <a:avLst/>
          </a:prstGeom>
          <a:noFill/>
        </p:spPr>
        <p:txBody>
          <a:bodyPr wrap="none" lIns="91436" tIns="45718" rIns="91436" bIns="45718" rtlCol="0">
            <a:spAutoFit/>
          </a:bodyPr>
          <a:lstStyle/>
          <a:p>
            <a:r>
              <a:rPr lang="zh-CN" altLang="en-US" sz="32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简介</a:t>
            </a:r>
            <a:endParaRPr lang="zh-CN" altLang="en-US" sz="3200" dirty="0">
              <a:solidFill>
                <a:schemeClr val="tx1">
                  <a:lumMod val="65000"/>
                  <a:lumOff val="3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10" name="组合 9"/>
          <p:cNvGrpSpPr/>
          <p:nvPr userDrawn="1"/>
        </p:nvGrpSpPr>
        <p:grpSpPr>
          <a:xfrm>
            <a:off x="2584397" y="217491"/>
            <a:ext cx="10096500" cy="439541"/>
            <a:chOff x="2584397" y="217491"/>
            <a:chExt cx="10096500" cy="439541"/>
          </a:xfrm>
          <a:solidFill>
            <a:srgbClr val="C00000"/>
          </a:solidFill>
        </p:grpSpPr>
        <p:sp>
          <p:nvSpPr>
            <p:cNvPr id="11" name="圆角矩形 3"/>
            <p:cNvSpPr/>
            <p:nvPr/>
          </p:nvSpPr>
          <p:spPr>
            <a:xfrm>
              <a:off x="2584397" y="217491"/>
              <a:ext cx="10083800" cy="328609"/>
            </a:xfrm>
            <a:prstGeom prst="roundRect">
              <a:avLst>
                <a:gd name="adj" fmla="val 50000"/>
              </a:avLst>
            </a:prstGeom>
            <a:solidFill>
              <a:srgbClr val="01492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" name="圆角矩形 7"/>
            <p:cNvSpPr/>
            <p:nvPr/>
          </p:nvSpPr>
          <p:spPr>
            <a:xfrm flipV="1">
              <a:off x="2597097" y="621032"/>
              <a:ext cx="10083800" cy="36000"/>
            </a:xfrm>
            <a:prstGeom prst="roundRect">
              <a:avLst>
                <a:gd name="adj" fmla="val 50000"/>
              </a:avLst>
            </a:prstGeom>
            <a:solidFill>
              <a:srgbClr val="01492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" name="矩形 12"/>
            <p:cNvSpPr/>
            <p:nvPr/>
          </p:nvSpPr>
          <p:spPr>
            <a:xfrm>
              <a:off x="3016288" y="239783"/>
              <a:ext cx="1385244" cy="276995"/>
            </a:xfrm>
            <a:prstGeom prst="rect">
              <a:avLst/>
            </a:prstGeom>
            <a:noFill/>
          </p:spPr>
          <p:txBody>
            <a:bodyPr wrap="none" lIns="91436" tIns="45718" rIns="91436" bIns="45718">
              <a:spAutoFit/>
            </a:bodyPr>
            <a:lstStyle/>
            <a:p>
              <a:pPr algn="ctr"/>
              <a:r>
                <a:rPr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INTRODUCTION</a:t>
              </a:r>
              <a:endParaRPr lang="en-US" altLang="zh-CN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17F9E5-2C3F-427E-9E18-8DB1205C1BD4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635508-54A0-4FB0-A4C5-6467DE85E924}" type="slidenum">
              <a:rPr lang="zh-CN" altLang="en-US" smtClean="0"/>
            </a:fld>
            <a:endParaRPr lang="zh-CN" altLang="en-US"/>
          </a:p>
        </p:txBody>
      </p:sp>
      <p:pic>
        <p:nvPicPr>
          <p:cNvPr id="7" name="图片 6" descr="tjnu_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332595" y="103505"/>
            <a:ext cx="2698115" cy="66929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17F9E5-2C3F-427E-9E18-8DB1205C1BD4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635508-54A0-4FB0-A4C5-6467DE85E92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17F9E5-2C3F-427E-9E18-8DB1205C1BD4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635508-54A0-4FB0-A4C5-6467DE85E92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17F9E5-2C3F-427E-9E18-8DB1205C1BD4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635508-54A0-4FB0-A4C5-6467DE85E92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17F9E5-2C3F-427E-9E18-8DB1205C1BD4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635508-54A0-4FB0-A4C5-6467DE85E92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17F9E5-2C3F-427E-9E18-8DB1205C1BD4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635508-54A0-4FB0-A4C5-6467DE85E92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17F9E5-2C3F-427E-9E18-8DB1205C1BD4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635508-54A0-4FB0-A4C5-6467DE85E92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17F9E5-2C3F-427E-9E18-8DB1205C1BD4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635508-54A0-4FB0-A4C5-6467DE85E92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17F9E5-2C3F-427E-9E18-8DB1205C1BD4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635508-54A0-4FB0-A4C5-6467DE85E92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17F9E5-2C3F-427E-9E18-8DB1205C1BD4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635508-54A0-4FB0-A4C5-6467DE85E92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1F0701-9B48-4FBA-A04B-CA97C71F35A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DAF53-3B18-4E2F-B370-394AAF94CAE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1F0701-9B48-4FBA-A04B-CA97C71F35A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DAF53-3B18-4E2F-B370-394AAF94CAE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1F0701-9B48-4FBA-A04B-CA97C71F35A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DAF53-3B18-4E2F-B370-394AAF94CAE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1F0701-9B48-4FBA-A04B-CA97C71F35A7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DAF53-3B18-4E2F-B370-394AAF94CAE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1F0701-9B48-4FBA-A04B-CA97C71F35A7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DAF53-3B18-4E2F-B370-394AAF94CAE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1F0701-9B48-4FBA-A04B-CA97C71F35A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DAF53-3B18-4E2F-B370-394AAF94CAE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1F0701-9B48-4FBA-A04B-CA97C71F35A7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DAF53-3B18-4E2F-B370-394AAF94CAE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1F0701-9B48-4FBA-A04B-CA97C71F35A7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DAF53-3B18-4E2F-B370-394AAF94CAE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1F0701-9B48-4FBA-A04B-CA97C71F35A7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DAF53-3B18-4E2F-B370-394AAF94CAE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1F0701-9B48-4FBA-A04B-CA97C71F35A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DAF53-3B18-4E2F-B370-394AAF94CAE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1F0701-9B48-4FBA-A04B-CA97C71F35A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DAF53-3B18-4E2F-B370-394AAF94CAE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4" Type="http://schemas.openxmlformats.org/officeDocument/2006/relationships/theme" Target="../theme/theme1.xml"/><Relationship Id="rId13" Type="http://schemas.openxmlformats.org/officeDocument/2006/relationships/image" Target="../media/image2.jpeg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1.xml"/><Relationship Id="rId8" Type="http://schemas.openxmlformats.org/officeDocument/2006/relationships/slideLayout" Target="../slideLayouts/slideLayout20.xml"/><Relationship Id="rId7" Type="http://schemas.openxmlformats.org/officeDocument/2006/relationships/slideLayout" Target="../slideLayouts/slideLayout19.xml"/><Relationship Id="rId6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4.xml"/><Relationship Id="rId13" Type="http://schemas.openxmlformats.org/officeDocument/2006/relationships/theme" Target="../theme/theme2.xml"/><Relationship Id="rId12" Type="http://schemas.openxmlformats.org/officeDocument/2006/relationships/image" Target="../media/image3.png"/><Relationship Id="rId11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2.xml"/><Relationship Id="rId1" Type="http://schemas.openxmlformats.org/officeDocument/2006/relationships/slideLayout" Target="../slideLayouts/slideLayout1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17F9E5-2C3F-427E-9E18-8DB1205C1BD4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635508-54A0-4FB0-A4C5-6467DE85E92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F1F0701-9B48-4FBA-A04B-CA97C71F35A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1DAF53-3B18-4E2F-B370-394AAF94CAE4}" type="slidenum">
              <a:rPr lang="zh-CN" altLang="en-US" smtClean="0"/>
            </a:fld>
            <a:endParaRPr lang="zh-CN" altLang="en-US"/>
          </a:p>
        </p:txBody>
      </p:sp>
      <p:grpSp>
        <p:nvGrpSpPr>
          <p:cNvPr id="7" name="组合 6"/>
          <p:cNvGrpSpPr/>
          <p:nvPr userDrawn="1"/>
        </p:nvGrpSpPr>
        <p:grpSpPr>
          <a:xfrm>
            <a:off x="-254000" y="144940"/>
            <a:ext cx="12252295" cy="582295"/>
            <a:chOff x="-254000" y="144940"/>
            <a:chExt cx="12252295" cy="582295"/>
          </a:xfrm>
        </p:grpSpPr>
        <p:grpSp>
          <p:nvGrpSpPr>
            <p:cNvPr id="8" name="组合 7"/>
            <p:cNvGrpSpPr/>
            <p:nvPr/>
          </p:nvGrpSpPr>
          <p:grpSpPr>
            <a:xfrm>
              <a:off x="-254000" y="201683"/>
              <a:ext cx="898070" cy="523220"/>
              <a:chOff x="-254000" y="201683"/>
              <a:chExt cx="898070" cy="523220"/>
            </a:xfrm>
          </p:grpSpPr>
          <p:sp>
            <p:nvSpPr>
              <p:cNvPr id="13" name="圆角矩形 10"/>
              <p:cNvSpPr/>
              <p:nvPr/>
            </p:nvSpPr>
            <p:spPr>
              <a:xfrm>
                <a:off x="-254000" y="227083"/>
                <a:ext cx="898070" cy="439668"/>
              </a:xfrm>
              <a:prstGeom prst="roundRect">
                <a:avLst>
                  <a:gd name="adj" fmla="val 50000"/>
                </a:avLst>
              </a:prstGeom>
              <a:solidFill>
                <a:srgbClr val="01492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宋体" panose="02010600030101010101" pitchFamily="2" charset="-122"/>
                  <a:cs typeface="+mn-cs"/>
                </a:endParaRPr>
              </a:p>
            </p:txBody>
          </p:sp>
          <p:sp>
            <p:nvSpPr>
              <p:cNvPr id="14" name="文本框 13"/>
              <p:cNvSpPr txBox="1"/>
              <p:nvPr/>
            </p:nvSpPr>
            <p:spPr>
              <a:xfrm>
                <a:off x="65706" y="201683"/>
                <a:ext cx="467694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en-US" altLang="zh-CN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1</a:t>
                </a:r>
                <a:endParaRPr kumimoji="0" lang="zh-CN" altLang="en-US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  <p:grpSp>
          <p:nvGrpSpPr>
            <p:cNvPr id="9" name="组合 8"/>
            <p:cNvGrpSpPr/>
            <p:nvPr/>
          </p:nvGrpSpPr>
          <p:grpSpPr>
            <a:xfrm>
              <a:off x="533527" y="144940"/>
              <a:ext cx="11464768" cy="582295"/>
              <a:chOff x="533527" y="144940"/>
              <a:chExt cx="11464768" cy="582295"/>
            </a:xfrm>
          </p:grpSpPr>
          <p:sp>
            <p:nvSpPr>
              <p:cNvPr id="10" name="文本框 9"/>
              <p:cNvSpPr txBox="1"/>
              <p:nvPr/>
            </p:nvSpPr>
            <p:spPr>
              <a:xfrm>
                <a:off x="533527" y="144940"/>
                <a:ext cx="2620010" cy="582295"/>
              </a:xfrm>
              <a:prstGeom prst="rect">
                <a:avLst/>
              </a:prstGeom>
              <a:noFill/>
            </p:spPr>
            <p:txBody>
              <a:bodyPr wrap="none" lIns="91436" tIns="45718" rIns="91436" bIns="45718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zh-CN" alt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《雅典学院》</a:t>
                </a:r>
                <a:endParaRPr kumimoji="0" lang="zh-CN" alt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endParaRPr>
              </a:p>
            </p:txBody>
          </p:sp>
          <p:pic>
            <p:nvPicPr>
              <p:cNvPr id="11" name="图片 10"/>
              <p:cNvPicPr>
                <a:picLocks noChangeAspect="1"/>
              </p:cNvPicPr>
              <p:nvPr/>
            </p:nvPicPr>
            <p:blipFill rotWithShape="1">
              <a:blip r:embed="rId1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23044"/>
              <a:stretch>
                <a:fillRect/>
              </a:stretch>
            </p:blipFill>
            <p:spPr>
              <a:xfrm>
                <a:off x="10733656" y="176254"/>
                <a:ext cx="1264639" cy="444778"/>
              </a:xfrm>
              <a:prstGeom prst="rect">
                <a:avLst/>
              </a:prstGeom>
            </p:spPr>
          </p:pic>
          <p:sp>
            <p:nvSpPr>
              <p:cNvPr id="12" name="文本框 11"/>
              <p:cNvSpPr txBox="1"/>
              <p:nvPr/>
            </p:nvSpPr>
            <p:spPr>
              <a:xfrm>
                <a:off x="3363595" y="201930"/>
                <a:ext cx="4860925" cy="368300"/>
              </a:xfrm>
              <a:prstGeom prst="rect">
                <a:avLst/>
              </a:prstGeom>
            </p:spPr>
            <p:txBody>
              <a:bodyPr wrap="square">
                <a:spAutoFit/>
                <a:extLst>
                  <a:ext uri="{4A0BC546-FE56-4ADE-93B0-CB8AF2F6F144}">
                    <wpsdc:textFrameExt xmlns:wpsdc="http://www.wps.cn/officeDocument/2022/drawingmlCustomData" type="text"/>
                  </a:ext>
                </a:extLst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微软雅黑" panose="020B0503020204020204" pitchFamily="34" charset="-122"/>
                    <a:cs typeface="+mn-cs"/>
                  </a:rPr>
                  <a:t>拉斐尔的代表作，艺术登峰与精神追求的交融</a:t>
                </a: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panose="020B0604020202020204" pitchFamily="34" charset="0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3.xml"/><Relationship Id="rId2" Type="http://schemas.microsoft.com/office/2007/relationships/hdphoto" Target="../media/image5.wdp"/><Relationship Id="rId1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2" Type="http://schemas.openxmlformats.org/officeDocument/2006/relationships/notesSlide" Target="../notesSlides/notesSlide2.xml"/><Relationship Id="rId11" Type="http://schemas.openxmlformats.org/officeDocument/2006/relationships/slideLayout" Target="../slideLayouts/slideLayout3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3.xml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6.xml"/><Relationship Id="rId3" Type="http://schemas.openxmlformats.org/officeDocument/2006/relationships/slideLayout" Target="../slideLayouts/slideLayout3.xml"/><Relationship Id="rId2" Type="http://schemas.openxmlformats.org/officeDocument/2006/relationships/tags" Target="../tags/tag15.xml"/><Relationship Id="rId1" Type="http://schemas.openxmlformats.org/officeDocument/2006/relationships/tags" Target="../tags/tag14.xml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7.xml"/><Relationship Id="rId3" Type="http://schemas.openxmlformats.org/officeDocument/2006/relationships/slideLayout" Target="../slideLayouts/slideLayout3.xml"/><Relationship Id="rId2" Type="http://schemas.openxmlformats.org/officeDocument/2006/relationships/tags" Target="../tags/tag17.xml"/><Relationship Id="rId1" Type="http://schemas.openxmlformats.org/officeDocument/2006/relationships/tags" Target="../tags/tag16.xml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8.xml"/><Relationship Id="rId3" Type="http://schemas.openxmlformats.org/officeDocument/2006/relationships/slideLayout" Target="../slideLayouts/slideLayout3.xml"/><Relationship Id="rId2" Type="http://schemas.openxmlformats.org/officeDocument/2006/relationships/tags" Target="../tags/tag19.xml"/><Relationship Id="rId1" Type="http://schemas.openxmlformats.org/officeDocument/2006/relationships/tags" Target="../tags/tag1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9.xml"/><Relationship Id="rId3" Type="http://schemas.openxmlformats.org/officeDocument/2006/relationships/slideLayout" Target="../slideLayouts/slideLayout3.xml"/><Relationship Id="rId2" Type="http://schemas.openxmlformats.org/officeDocument/2006/relationships/image" Target="../media/image6.png"/><Relationship Id="rId1" Type="http://schemas.openxmlformats.org/officeDocument/2006/relationships/tags" Target="../tags/tag20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6.xml"/><Relationship Id="rId3" Type="http://schemas.openxmlformats.org/officeDocument/2006/relationships/slideLayout" Target="../slideLayouts/slideLayout3.xml"/><Relationship Id="rId2" Type="http://schemas.microsoft.com/office/2007/relationships/hdphoto" Target="../media/image5.wdp"/><Relationship Id="rId1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/>
          <p:cNvGrpSpPr/>
          <p:nvPr/>
        </p:nvGrpSpPr>
        <p:grpSpPr>
          <a:xfrm>
            <a:off x="4784090" y="0"/>
            <a:ext cx="2545080" cy="2557780"/>
            <a:chOff x="4705866" y="0"/>
            <a:chExt cx="2780268" cy="3063728"/>
          </a:xfrm>
        </p:grpSpPr>
        <p:sp>
          <p:nvSpPr>
            <p:cNvPr id="28" name="任意多边形 27"/>
            <p:cNvSpPr/>
            <p:nvPr/>
          </p:nvSpPr>
          <p:spPr>
            <a:xfrm>
              <a:off x="4705866" y="0"/>
              <a:ext cx="2780268" cy="3063728"/>
            </a:xfrm>
            <a:custGeom>
              <a:avLst/>
              <a:gdLst>
                <a:gd name="connsiteX0" fmla="*/ 0 w 2780268"/>
                <a:gd name="connsiteY0" fmla="*/ 0 h 3063728"/>
                <a:gd name="connsiteX1" fmla="*/ 2780268 w 2780268"/>
                <a:gd name="connsiteY1" fmla="*/ 0 h 3063728"/>
                <a:gd name="connsiteX2" fmla="*/ 2780268 w 2780268"/>
                <a:gd name="connsiteY2" fmla="*/ 1673594 h 3063728"/>
                <a:gd name="connsiteX3" fmla="*/ 1390134 w 2780268"/>
                <a:gd name="connsiteY3" fmla="*/ 3063728 h 3063728"/>
                <a:gd name="connsiteX4" fmla="*/ 0 w 2780268"/>
                <a:gd name="connsiteY4" fmla="*/ 1673594 h 3063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780268" h="3063728">
                  <a:moveTo>
                    <a:pt x="0" y="0"/>
                  </a:moveTo>
                  <a:lnTo>
                    <a:pt x="2780268" y="0"/>
                  </a:lnTo>
                  <a:lnTo>
                    <a:pt x="2780268" y="1673594"/>
                  </a:lnTo>
                  <a:cubicBezTo>
                    <a:pt x="2780268" y="2441344"/>
                    <a:pt x="2157884" y="3063728"/>
                    <a:pt x="1390134" y="3063728"/>
                  </a:cubicBezTo>
                  <a:cubicBezTo>
                    <a:pt x="622384" y="3063728"/>
                    <a:pt x="0" y="2441344"/>
                    <a:pt x="0" y="1673594"/>
                  </a:cubicBezTo>
                  <a:close/>
                </a:path>
              </a:pathLst>
            </a:custGeom>
            <a:solidFill>
              <a:srgbClr val="01492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7" name="组合 6"/>
            <p:cNvGrpSpPr/>
            <p:nvPr/>
          </p:nvGrpSpPr>
          <p:grpSpPr>
            <a:xfrm>
              <a:off x="4875891" y="408799"/>
              <a:ext cx="2439190" cy="2439192"/>
              <a:chOff x="5007734" y="902247"/>
              <a:chExt cx="2543685" cy="2543686"/>
            </a:xfrm>
          </p:grpSpPr>
          <p:sp>
            <p:nvSpPr>
              <p:cNvPr id="8" name="椭圆 7"/>
              <p:cNvSpPr/>
              <p:nvPr/>
            </p:nvSpPr>
            <p:spPr>
              <a:xfrm>
                <a:off x="5007734" y="902247"/>
                <a:ext cx="2543685" cy="2543686"/>
              </a:xfrm>
              <a:prstGeom prst="ellipse">
                <a:avLst/>
              </a:prstGeom>
              <a:gradFill flip="none" rotWithShape="1">
                <a:gsLst>
                  <a:gs pos="0">
                    <a:schemeClr val="bg1"/>
                  </a:gs>
                  <a:gs pos="100000">
                    <a:srgbClr val="E8E8E8"/>
                  </a:gs>
                </a:gsLst>
                <a:lin ang="5400000" scaled="1"/>
                <a:tileRect/>
              </a:gradFill>
              <a:ln>
                <a:noFill/>
              </a:ln>
              <a:effectLst>
                <a:outerShdw blurRad="139700" dist="38100" dir="5400000" algn="t" rotWithShape="0">
                  <a:prstClr val="black">
                    <a:alpha val="19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" name="椭圆 8"/>
              <p:cNvSpPr/>
              <p:nvPr/>
            </p:nvSpPr>
            <p:spPr>
              <a:xfrm rot="10800000">
                <a:off x="5160137" y="1054647"/>
                <a:ext cx="2213120" cy="2213120"/>
              </a:xfrm>
              <a:prstGeom prst="ellipse">
                <a:avLst/>
              </a:prstGeom>
              <a:gradFill flip="none" rotWithShape="1">
                <a:gsLst>
                  <a:gs pos="0">
                    <a:schemeClr val="bg1"/>
                  </a:gs>
                  <a:gs pos="100000">
                    <a:srgbClr val="E8E8E8"/>
                  </a:gs>
                </a:gsLst>
                <a:lin ang="5400000" scaled="1"/>
                <a:tileRect/>
              </a:gradFill>
              <a:ln>
                <a:noFill/>
              </a:ln>
              <a:effectLst>
                <a:innerShdw blurRad="88900">
                  <a:prstClr val="black">
                    <a:alpha val="16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sp>
        <p:nvSpPr>
          <p:cNvPr id="14" name="矩形 13"/>
          <p:cNvSpPr/>
          <p:nvPr/>
        </p:nvSpPr>
        <p:spPr>
          <a:xfrm>
            <a:off x="0" y="5223310"/>
            <a:ext cx="12192000" cy="1634689"/>
          </a:xfrm>
          <a:prstGeom prst="rect">
            <a:avLst/>
          </a:prstGeom>
          <a:gradFill flip="none" rotWithShape="1">
            <a:gsLst>
              <a:gs pos="0">
                <a:srgbClr val="014924"/>
              </a:gs>
              <a:gs pos="51000">
                <a:srgbClr val="014924"/>
              </a:gs>
              <a:gs pos="80000">
                <a:srgbClr val="014924">
                  <a:alpha val="80000"/>
                </a:srgbClr>
              </a:gs>
              <a:gs pos="100000">
                <a:srgbClr val="014924">
                  <a:alpha val="60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矩形 14"/>
          <p:cNvSpPr/>
          <p:nvPr/>
        </p:nvSpPr>
        <p:spPr>
          <a:xfrm>
            <a:off x="0" y="5053673"/>
            <a:ext cx="12192000" cy="77108"/>
          </a:xfrm>
          <a:prstGeom prst="rect">
            <a:avLst/>
          </a:prstGeom>
          <a:solidFill>
            <a:srgbClr val="01492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文本框 15"/>
          <p:cNvSpPr txBox="1"/>
          <p:nvPr/>
        </p:nvSpPr>
        <p:spPr>
          <a:xfrm>
            <a:off x="1126490" y="2929255"/>
            <a:ext cx="10013950" cy="17532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sz="5400" b="1">
                <a:solidFill>
                  <a:srgbClr val="014924"/>
                </a:solidFill>
                <a:latin typeface="微软雅黑" panose="020B0503020204020204" pitchFamily="34" charset="-122"/>
              </a:rPr>
              <a:t>SafeOps Agent：面向麒麟操作系统的安全智能运维 Agent</a:t>
            </a:r>
            <a:endParaRPr sz="5400" b="1">
              <a:solidFill>
                <a:srgbClr val="014924"/>
              </a:solidFill>
              <a:latin typeface="微软雅黑" panose="020B0503020204020204" pitchFamily="34" charset="-122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2532896" y="5376566"/>
            <a:ext cx="6800525" cy="1383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2800" b="1">
                <a:solidFill>
                  <a:schemeClr val="bg1"/>
                </a:solidFill>
                <a:latin typeface="方正小标宋简体" panose="03000509000000000000" charset="-122"/>
              </a:rPr>
              <a:t>汇报队伍：</a:t>
            </a:r>
            <a:r>
              <a:rPr lang="en-US" sz="2800" b="1">
                <a:solidFill>
                  <a:schemeClr val="bg1"/>
                </a:solidFill>
                <a:latin typeface="方正小标宋简体" panose="03000509000000000000" charset="-122"/>
              </a:rPr>
              <a:t>G</a:t>
            </a:r>
            <a:r>
              <a:rPr lang="zh-CN" altLang="en-US" sz="2800" b="1">
                <a:solidFill>
                  <a:schemeClr val="bg1"/>
                </a:solidFill>
                <a:latin typeface="方正小标宋简体" panose="03000509000000000000" charset="-122"/>
              </a:rPr>
              <a:t>老师饲养大队</a:t>
            </a:r>
            <a:endParaRPr lang="zh-CN" altLang="en-US" sz="2800" b="1">
              <a:solidFill>
                <a:schemeClr val="bg1"/>
              </a:solidFill>
              <a:latin typeface="方正小标宋简体" panose="03000509000000000000" charset="-122"/>
            </a:endParaRPr>
          </a:p>
          <a:p>
            <a:r>
              <a:rPr lang="zh-CN" altLang="en-US" sz="2800" b="1">
                <a:solidFill>
                  <a:schemeClr val="bg1"/>
                </a:solidFill>
                <a:latin typeface="方正小标宋简体" panose="03000509000000000000" charset="-122"/>
              </a:rPr>
              <a:t>参赛队员：队长：</a:t>
            </a:r>
            <a:r>
              <a:rPr lang="zh-CN" altLang="en-US" sz="2800" b="1">
                <a:solidFill>
                  <a:schemeClr val="bg1"/>
                </a:solidFill>
                <a:latin typeface="方正小标宋简体" panose="03000509000000000000" charset="-122"/>
              </a:rPr>
              <a:t>鲍灿辉</a:t>
            </a:r>
            <a:endParaRPr lang="zh-CN" altLang="en-US" sz="2800" b="1">
              <a:solidFill>
                <a:schemeClr val="bg1"/>
              </a:solidFill>
              <a:latin typeface="方正小标宋简体" panose="03000509000000000000" charset="-122"/>
            </a:endParaRPr>
          </a:p>
          <a:p>
            <a:pPr marL="1371600" lvl="3" indent="457200"/>
            <a:r>
              <a:rPr lang="zh-CN" altLang="en-US" sz="2800" b="1">
                <a:solidFill>
                  <a:schemeClr val="bg1"/>
                </a:solidFill>
                <a:latin typeface="方正小标宋简体" panose="03000509000000000000" charset="-122"/>
              </a:rPr>
              <a:t>成员：石雅禛</a:t>
            </a:r>
            <a:r>
              <a:rPr lang="en-US" altLang="zh-CN" sz="2800" b="1">
                <a:solidFill>
                  <a:schemeClr val="bg1"/>
                </a:solidFill>
                <a:latin typeface="方正小标宋简体" panose="03000509000000000000" charset="-122"/>
              </a:rPr>
              <a:t>  </a:t>
            </a:r>
            <a:r>
              <a:rPr lang="zh-CN" altLang="en-US" sz="2800" b="1">
                <a:solidFill>
                  <a:schemeClr val="bg1"/>
                </a:solidFill>
                <a:latin typeface="方正小标宋简体" panose="03000509000000000000" charset="-122"/>
              </a:rPr>
              <a:t>刘衷博</a:t>
            </a:r>
            <a:endParaRPr lang="zh-CN" altLang="en-US" sz="2800" b="1">
              <a:solidFill>
                <a:schemeClr val="bg1"/>
              </a:solidFill>
              <a:latin typeface="方正小标宋简体" panose="03000509000000000000" charset="-122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 cstate="print">
            <a:extLst>
              <a:ext uri="{BEBA8EAE-BF5A-486C-A8C5-ECC9F3942E4B}">
                <a14:imgProps xmlns:a14="http://schemas.microsoft.com/office/drawing/2010/main">
                  <a14:imgLayer r:embed="rId2">
                    <a14:imgEffect>
                      <a14:backgroundRemoval t="0" b="100000" l="0" r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2715" y="551180"/>
            <a:ext cx="1687830" cy="16840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 rot="5400000">
            <a:off x="-2611658" y="2611657"/>
            <a:ext cx="6858001" cy="1634689"/>
          </a:xfrm>
          <a:prstGeom prst="rect">
            <a:avLst/>
          </a:prstGeom>
          <a:solidFill>
            <a:srgbClr val="01492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C00000"/>
              </a:solidFill>
            </a:endParaRPr>
          </a:p>
        </p:txBody>
      </p:sp>
      <p:sp>
        <p:nvSpPr>
          <p:cNvPr id="6" name="矩形 5"/>
          <p:cNvSpPr/>
          <p:nvPr/>
        </p:nvSpPr>
        <p:spPr>
          <a:xfrm rot="5400000">
            <a:off x="-1663229" y="3390448"/>
            <a:ext cx="6858001" cy="77108"/>
          </a:xfrm>
          <a:prstGeom prst="rect">
            <a:avLst/>
          </a:prstGeom>
          <a:solidFill>
            <a:srgbClr val="01492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347980" y="1354455"/>
            <a:ext cx="1013460" cy="3644900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dist"/>
            <a:r>
              <a:rPr lang="zh-CN" altLang="en-US" sz="5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</a:rPr>
              <a:t>目录</a:t>
            </a:r>
            <a:endParaRPr lang="zh-CN" altLang="en-US" sz="5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</a:endParaRPr>
          </a:p>
        </p:txBody>
      </p:sp>
      <p:sp>
        <p:nvSpPr>
          <p:cNvPr id="10" name="矩形 9"/>
          <p:cNvSpPr/>
          <p:nvPr>
            <p:custDataLst>
              <p:tags r:id="rId1"/>
            </p:custDataLst>
          </p:nvPr>
        </p:nvSpPr>
        <p:spPr>
          <a:xfrm>
            <a:off x="2768001" y="2298065"/>
            <a:ext cx="767990" cy="767990"/>
          </a:xfrm>
          <a:prstGeom prst="rect">
            <a:avLst/>
          </a:prstGeom>
          <a:solidFill>
            <a:srgbClr val="01492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4" name="文本框 13"/>
          <p:cNvSpPr txBox="1"/>
          <p:nvPr>
            <p:custDataLst>
              <p:tags r:id="rId2"/>
            </p:custDataLst>
          </p:nvPr>
        </p:nvSpPr>
        <p:spPr>
          <a:xfrm>
            <a:off x="2663806" y="2392731"/>
            <a:ext cx="976380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2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endParaRPr lang="zh-CN" altLang="en-US" sz="32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矩形 14"/>
          <p:cNvSpPr/>
          <p:nvPr>
            <p:custDataLst>
              <p:tags r:id="rId3"/>
            </p:custDataLst>
          </p:nvPr>
        </p:nvSpPr>
        <p:spPr>
          <a:xfrm>
            <a:off x="2768001" y="3404870"/>
            <a:ext cx="767990" cy="767990"/>
          </a:xfrm>
          <a:prstGeom prst="rect">
            <a:avLst/>
          </a:prstGeom>
          <a:solidFill>
            <a:srgbClr val="01492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32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endParaRPr lang="en-US" altLang="zh-CN" sz="32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矩形 19"/>
          <p:cNvSpPr/>
          <p:nvPr>
            <p:custDataLst>
              <p:tags r:id="rId4"/>
            </p:custDataLst>
          </p:nvPr>
        </p:nvSpPr>
        <p:spPr>
          <a:xfrm>
            <a:off x="2768001" y="4482465"/>
            <a:ext cx="767990" cy="767990"/>
          </a:xfrm>
          <a:prstGeom prst="rect">
            <a:avLst/>
          </a:prstGeom>
          <a:solidFill>
            <a:srgbClr val="01492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32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  <a:endParaRPr lang="en-US" altLang="zh-CN" dirty="0"/>
          </a:p>
        </p:txBody>
      </p:sp>
      <p:sp>
        <p:nvSpPr>
          <p:cNvPr id="32" name="矩形 31"/>
          <p:cNvSpPr/>
          <p:nvPr>
            <p:custDataLst>
              <p:tags r:id="rId5"/>
            </p:custDataLst>
          </p:nvPr>
        </p:nvSpPr>
        <p:spPr>
          <a:xfrm>
            <a:off x="2768001" y="1273810"/>
            <a:ext cx="767990" cy="767990"/>
          </a:xfrm>
          <a:prstGeom prst="rect">
            <a:avLst/>
          </a:prstGeom>
          <a:solidFill>
            <a:srgbClr val="01492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" name="文本框 32"/>
          <p:cNvSpPr txBox="1"/>
          <p:nvPr>
            <p:custDataLst>
              <p:tags r:id="rId6"/>
            </p:custDataLst>
          </p:nvPr>
        </p:nvSpPr>
        <p:spPr>
          <a:xfrm>
            <a:off x="2663806" y="1368476"/>
            <a:ext cx="976380" cy="6548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2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endParaRPr lang="zh-CN" altLang="en-US" sz="32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" name="文本框 33"/>
          <p:cNvSpPr txBox="1"/>
          <p:nvPr>
            <p:custDataLst>
              <p:tags r:id="rId7"/>
            </p:custDataLst>
          </p:nvPr>
        </p:nvSpPr>
        <p:spPr>
          <a:xfrm>
            <a:off x="3888105" y="1434465"/>
            <a:ext cx="30861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>
                <a:latin typeface="方正小标宋简体" panose="03000509000000000000" charset="-122"/>
                <a:ea typeface="方正小标宋简体" panose="03000509000000000000" charset="-122"/>
              </a:rPr>
              <a:t>项目进展时间线</a:t>
            </a:r>
            <a:endParaRPr lang="zh-CN" altLang="en-US" sz="2800">
              <a:latin typeface="方正小标宋简体" panose="03000509000000000000" charset="-122"/>
              <a:ea typeface="方正小标宋简体" panose="03000509000000000000" charset="-122"/>
            </a:endParaRPr>
          </a:p>
        </p:txBody>
      </p:sp>
      <p:sp>
        <p:nvSpPr>
          <p:cNvPr id="37" name="文本框 36"/>
          <p:cNvSpPr txBox="1"/>
          <p:nvPr>
            <p:custDataLst>
              <p:tags r:id="rId8"/>
            </p:custDataLst>
          </p:nvPr>
        </p:nvSpPr>
        <p:spPr>
          <a:xfrm>
            <a:off x="3888105" y="2454275"/>
            <a:ext cx="220789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>
                <a:latin typeface="方正小标宋简体" panose="03000509000000000000" charset="-122"/>
                <a:ea typeface="方正小标宋简体" panose="03000509000000000000" charset="-122"/>
              </a:rPr>
              <a:t>技术思路</a:t>
            </a:r>
            <a:endParaRPr lang="zh-CN" altLang="en-US" sz="2800">
              <a:latin typeface="方正小标宋简体" panose="03000509000000000000" charset="-122"/>
              <a:ea typeface="方正小标宋简体" panose="03000509000000000000" charset="-122"/>
            </a:endParaRPr>
          </a:p>
        </p:txBody>
      </p:sp>
      <p:sp>
        <p:nvSpPr>
          <p:cNvPr id="2" name="文本框 1"/>
          <p:cNvSpPr txBox="1"/>
          <p:nvPr>
            <p:custDataLst>
              <p:tags r:id="rId9"/>
            </p:custDataLst>
          </p:nvPr>
        </p:nvSpPr>
        <p:spPr>
          <a:xfrm>
            <a:off x="3888105" y="3474085"/>
            <a:ext cx="40640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buClrTx/>
              <a:buSzTx/>
              <a:buFontTx/>
            </a:pPr>
            <a:r>
              <a:rPr lang="zh-CN" altLang="en-US" sz="2800">
                <a:latin typeface="方正小标宋简体" panose="03000509000000000000" charset="-122"/>
                <a:ea typeface="方正小标宋简体" panose="03000509000000000000" charset="-122"/>
              </a:rPr>
              <a:t>现有工作</a:t>
            </a:r>
            <a:endParaRPr lang="zh-CN" altLang="en-US" sz="2800">
              <a:latin typeface="方正小标宋简体" panose="03000509000000000000" charset="-122"/>
              <a:ea typeface="方正小标宋简体" panose="03000509000000000000" charset="-122"/>
            </a:endParaRPr>
          </a:p>
        </p:txBody>
      </p:sp>
      <p:sp>
        <p:nvSpPr>
          <p:cNvPr id="3" name="文本框 2"/>
          <p:cNvSpPr txBox="1"/>
          <p:nvPr>
            <p:custDataLst>
              <p:tags r:id="rId10"/>
            </p:custDataLst>
          </p:nvPr>
        </p:nvSpPr>
        <p:spPr>
          <a:xfrm>
            <a:off x="3888105" y="4681855"/>
            <a:ext cx="40640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>
                <a:latin typeface="方正小标宋简体" panose="03000509000000000000" charset="-122"/>
                <a:ea typeface="方正小标宋简体" panose="03000509000000000000" charset="-122"/>
              </a:rPr>
              <a:t>后续展望与优化方向</a:t>
            </a:r>
            <a:endParaRPr lang="zh-CN" altLang="en-US" sz="2800">
              <a:latin typeface="方正小标宋简体" panose="03000509000000000000" charset="-122"/>
              <a:ea typeface="方正小标宋简体" panose="03000509000000000000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 rot="5400000">
            <a:off x="-2226945" y="2227580"/>
            <a:ext cx="6858000" cy="2403475"/>
          </a:xfrm>
          <a:prstGeom prst="rect">
            <a:avLst/>
          </a:prstGeom>
          <a:solidFill>
            <a:srgbClr val="01492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C00000"/>
              </a:solidFill>
            </a:endParaRPr>
          </a:p>
        </p:txBody>
      </p:sp>
      <p:grpSp>
        <p:nvGrpSpPr>
          <p:cNvPr id="20" name="组合 19"/>
          <p:cNvGrpSpPr/>
          <p:nvPr/>
        </p:nvGrpSpPr>
        <p:grpSpPr>
          <a:xfrm>
            <a:off x="0" y="1256291"/>
            <a:ext cx="2737505" cy="762000"/>
            <a:chOff x="0" y="772160"/>
            <a:chExt cx="2737505" cy="762000"/>
          </a:xfrm>
          <a:solidFill>
            <a:srgbClr val="9C0000"/>
          </a:solidFill>
        </p:grpSpPr>
        <p:sp>
          <p:nvSpPr>
            <p:cNvPr id="7" name="矩形 6"/>
            <p:cNvSpPr/>
            <p:nvPr/>
          </p:nvSpPr>
          <p:spPr>
            <a:xfrm>
              <a:off x="0" y="772160"/>
              <a:ext cx="2509520" cy="762000"/>
            </a:xfrm>
            <a:prstGeom prst="rect">
              <a:avLst/>
            </a:prstGeom>
            <a:grpFill/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" name="等腰三角形 17"/>
            <p:cNvSpPr/>
            <p:nvPr/>
          </p:nvSpPr>
          <p:spPr>
            <a:xfrm rot="5400000">
              <a:off x="2491281" y="1039167"/>
              <a:ext cx="264463" cy="227985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3" name="文本框 2"/>
          <p:cNvSpPr txBox="1"/>
          <p:nvPr/>
        </p:nvSpPr>
        <p:spPr>
          <a:xfrm>
            <a:off x="86360" y="1388371"/>
            <a:ext cx="23368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项目进展时间线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7310" y="2516722"/>
            <a:ext cx="23368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技术思路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67346" y="3553312"/>
            <a:ext cx="233680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现有工作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  <a:p>
            <a:pPr algn="ctr"/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7310" y="4622294"/>
            <a:ext cx="233680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后续展望与优化方向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23" name="矩形 22"/>
          <p:cNvSpPr/>
          <p:nvPr>
            <p:custDataLst>
              <p:tags r:id="rId1"/>
            </p:custDataLst>
          </p:nvPr>
        </p:nvSpPr>
        <p:spPr>
          <a:xfrm>
            <a:off x="2842895" y="1388110"/>
            <a:ext cx="9262110" cy="420370"/>
          </a:xfrm>
          <a:prstGeom prst="rect">
            <a:avLst/>
          </a:prstGeom>
          <a:solidFill>
            <a:srgbClr val="01492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2891201" y="567484"/>
            <a:ext cx="8596786" cy="688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sz="3600" b="1">
                <a:latin typeface="微软雅黑" panose="020B0503020204020204" pitchFamily="34" charset="-122"/>
              </a:rPr>
              <a:t>1.1 赛题定位与项目目标</a:t>
            </a:r>
            <a:endParaRPr sz="3600" b="1">
              <a:latin typeface="微软雅黑" panose="020B0503020204020204" pitchFamily="34" charset="-122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2884805" y="1388110"/>
            <a:ext cx="9029700" cy="38163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sz="2400" b="1">
                <a:solidFill>
                  <a:schemeClr val="bg1"/>
                </a:solidFill>
                <a:latin typeface="方正小标宋简体" panose="03000509000000000000" charset="-122"/>
              </a:rPr>
              <a:t>赛题A 组：面向麒麟操作系统的安全智能运维 Agent 设计与实现</a:t>
            </a:r>
            <a:endParaRPr sz="2400" b="1">
              <a:solidFill>
                <a:schemeClr val="bg1"/>
              </a:solidFill>
              <a:latin typeface="方正小标宋简体" panose="03000509000000000000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2987675" y="2018030"/>
            <a:ext cx="8926830" cy="446532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indent="0" fontAlgn="auto">
              <a:lnSpc>
                <a:spcPct val="150000"/>
              </a:lnSpc>
            </a:pPr>
            <a:r>
              <a:rPr sz="2400" b="1">
                <a:solidFill>
                  <a:srgbClr val="000000"/>
                </a:solidFill>
                <a:latin typeface="微软雅黑" panose="020B0503020204020204" pitchFamily="34" charset="-122"/>
              </a:rPr>
              <a:t>目标概述：</a:t>
            </a:r>
            <a:endParaRPr sz="2400" b="1">
              <a:solidFill>
                <a:srgbClr val="000000"/>
              </a:solidFill>
              <a:latin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sz="2400" b="1">
                <a:solidFill>
                  <a:srgbClr val="000000"/>
                </a:solidFill>
                <a:latin typeface="微软雅黑" panose="020B0503020204020204" pitchFamily="34" charset="-122"/>
              </a:rPr>
              <a:t>本项目面向国产麒麟操作系统运维场景，构建一套“自然语言驱动、安全护栏优先”的智能运维 Agent（SafeOps Agent）。系统将运维人员的自然语言指令交由大模型理解意图，经输入/输出双向风险过滤后，映射到最小权限白名单工具执行，全程记录五步思维链与哈希链防篡改审计日志；在低风险直执行、中风险确认令牌、高风险拒绝的三级策略下杜绝误操作，实现高效、可解释、可追溯的对话式运维。</a:t>
            </a:r>
            <a:endParaRPr sz="2400" b="1">
              <a:solidFill>
                <a:srgbClr val="000000"/>
              </a:solidFill>
              <a:latin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 rot="5400000">
            <a:off x="-2226945" y="2227580"/>
            <a:ext cx="6858000" cy="2403475"/>
          </a:xfrm>
          <a:prstGeom prst="rect">
            <a:avLst/>
          </a:prstGeom>
          <a:solidFill>
            <a:srgbClr val="01492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C00000"/>
              </a:solidFill>
            </a:endParaRPr>
          </a:p>
        </p:txBody>
      </p:sp>
      <p:grpSp>
        <p:nvGrpSpPr>
          <p:cNvPr id="20" name="组合 19"/>
          <p:cNvGrpSpPr/>
          <p:nvPr/>
        </p:nvGrpSpPr>
        <p:grpSpPr>
          <a:xfrm>
            <a:off x="0" y="1256291"/>
            <a:ext cx="2737505" cy="762000"/>
            <a:chOff x="0" y="772160"/>
            <a:chExt cx="2737505" cy="762000"/>
          </a:xfrm>
          <a:solidFill>
            <a:srgbClr val="9C0000"/>
          </a:solidFill>
        </p:grpSpPr>
        <p:sp>
          <p:nvSpPr>
            <p:cNvPr id="7" name="矩形 6"/>
            <p:cNvSpPr/>
            <p:nvPr/>
          </p:nvSpPr>
          <p:spPr>
            <a:xfrm>
              <a:off x="0" y="772160"/>
              <a:ext cx="2509520" cy="762000"/>
            </a:xfrm>
            <a:prstGeom prst="rect">
              <a:avLst/>
            </a:prstGeom>
            <a:grpFill/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" name="等腰三角形 17"/>
            <p:cNvSpPr/>
            <p:nvPr/>
          </p:nvSpPr>
          <p:spPr>
            <a:xfrm rot="5400000">
              <a:off x="2491281" y="1039167"/>
              <a:ext cx="264463" cy="227985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3" name="文本框 2"/>
          <p:cNvSpPr txBox="1"/>
          <p:nvPr/>
        </p:nvSpPr>
        <p:spPr>
          <a:xfrm>
            <a:off x="86360" y="1388371"/>
            <a:ext cx="23368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项目进展时间线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7310" y="2516722"/>
            <a:ext cx="23368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技术思路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67346" y="3553312"/>
            <a:ext cx="233680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现有工作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  <a:p>
            <a:pPr algn="ctr"/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7310" y="4622294"/>
            <a:ext cx="233680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后续展望与优化方向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23" name="矩形 22"/>
          <p:cNvSpPr/>
          <p:nvPr>
            <p:custDataLst>
              <p:tags r:id="rId1"/>
            </p:custDataLst>
          </p:nvPr>
        </p:nvSpPr>
        <p:spPr>
          <a:xfrm>
            <a:off x="2842895" y="1388110"/>
            <a:ext cx="9262110" cy="420370"/>
          </a:xfrm>
          <a:prstGeom prst="rect">
            <a:avLst/>
          </a:prstGeom>
          <a:solidFill>
            <a:srgbClr val="01492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2891201" y="567484"/>
            <a:ext cx="8596786" cy="688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sz="3600" b="1">
                <a:latin typeface="微软雅黑" panose="020B0503020204020204" pitchFamily="34" charset="-122"/>
              </a:rPr>
              <a:t>1.1 研发阶段划分与工作节奏</a:t>
            </a:r>
            <a:endParaRPr sz="3600" b="1">
              <a:latin typeface="微软雅黑" panose="020B0503020204020204" pitchFamily="34" charset="-122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3100705" y="1388110"/>
            <a:ext cx="8813514" cy="38141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sz="2400" b="1">
                <a:solidFill>
                  <a:schemeClr val="bg1"/>
                </a:solidFill>
                <a:latin typeface="方正小标宋简体" panose="03000509000000000000" charset="-122"/>
              </a:rPr>
              <a:t>研发阶段划分</a:t>
            </a:r>
            <a:endParaRPr lang="zh-CN" altLang="en-US" sz="2400" b="1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方正小标宋简体" panose="03000509000000000000" charset="-122"/>
            </a:endParaRPr>
          </a:p>
        </p:txBody>
      </p:sp>
      <p:graphicFrame>
        <p:nvGraphicFramePr>
          <p:cNvPr id="10" name="表格 9"/>
          <p:cNvGraphicFramePr/>
          <p:nvPr/>
        </p:nvGraphicFramePr>
        <p:xfrm>
          <a:off x="2842908" y="1943172"/>
          <a:ext cx="9262110" cy="436562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55470"/>
                <a:gridCol w="3429539"/>
                <a:gridCol w="3977101"/>
              </a:tblGrid>
              <a:tr h="56515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400" b="1">
                          <a:solidFill>
                            <a:srgbClr val="000000"/>
                          </a:solidFill>
                          <a:latin typeface="方正小标宋简体" panose="03000509000000000000" charset="-122"/>
                        </a:rPr>
                        <a:t>阶段</a:t>
                      </a:r>
                      <a:endParaRPr lang="zh-CN" altLang="en-US" sz="2400" b="1" dirty="0">
                        <a:solidFill>
                          <a:srgbClr val="000000"/>
                        </a:solidFill>
                        <a:latin typeface="方正小标宋简体" panose="03000509000000000000" charset="-122"/>
                        <a:ea typeface="方正小标宋简体" panose="03000509000000000000" charset="-122"/>
                      </a:endParaRPr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defTabSz="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sz="2400" b="1">
                          <a:solidFill>
                            <a:srgbClr val="000000"/>
                          </a:solidFill>
                          <a:latin typeface="方正小标宋简体" panose="03000509000000000000" charset="-122"/>
                        </a:rPr>
                        <a:t>阶段目标</a:t>
                      </a:r>
                      <a:endParaRPr lang="zh-CN" altLang="en-US" sz="2400" b="1">
                        <a:solidFill>
                          <a:srgbClr val="000000"/>
                        </a:solidFill>
                        <a:latin typeface="方正小标宋简体" panose="03000509000000000000" charset="-122"/>
                        <a:ea typeface="方正小标宋简体" panose="03000509000000000000" charset="-122"/>
                      </a:endParaRPr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400" b="1">
                          <a:solidFill>
                            <a:srgbClr val="000000"/>
                          </a:solidFill>
                          <a:latin typeface="方正小标宋简体" panose="03000509000000000000" charset="-122"/>
                        </a:rPr>
                        <a:t>工作重点</a:t>
                      </a:r>
                      <a:endParaRPr sz="2400" b="1">
                        <a:solidFill>
                          <a:srgbClr val="000000"/>
                        </a:solidFill>
                        <a:latin typeface="方正小标宋简体" panose="03000509000000000000" charset="-122"/>
                      </a:endParaRPr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</a:tr>
              <a:tr h="9499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400" b="0">
                          <a:solidFill>
                            <a:srgbClr val="000000"/>
                          </a:solidFill>
                          <a:latin typeface="方正小标宋简体" panose="03000509000000000000" charset="-122"/>
                        </a:rPr>
                        <a:t>阶段一</a:t>
                      </a:r>
                      <a:endParaRPr sz="2400" b="0">
                        <a:solidFill>
                          <a:srgbClr val="000000"/>
                        </a:solidFill>
                        <a:latin typeface="方正小标宋简体" panose="03000509000000000000" charset="-122"/>
                      </a:endParaRPr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000"/>
                        <a:t>MVP 安全运维闭环</a:t>
                      </a:r>
                      <a:endParaRPr sz="2000"/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000"/>
                        <a:t>cli/agent/policy/tools 主链路，规则意图理解与三级风险策略</a:t>
                      </a:r>
                      <a:endParaRPr sz="2000"/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</a:tr>
              <a:tr h="9499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400" b="0">
                          <a:solidFill>
                            <a:srgbClr val="000000"/>
                          </a:solidFill>
                          <a:latin typeface="方正小标宋简体" panose="03000509000000000000" charset="-122"/>
                        </a:rPr>
                        <a:t>阶段二</a:t>
                      </a:r>
                      <a:endParaRPr sz="2400" b="0">
                        <a:solidFill>
                          <a:srgbClr val="000000"/>
                        </a:solidFill>
                        <a:latin typeface="方正小标宋简体" panose="03000509000000000000" charset="-122"/>
                      </a:endParaRPr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defTabSz="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sz="2000"/>
                        <a:t>双向护栏与审计链</a:t>
                      </a:r>
                      <a:endParaRPr sz="2000"/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defTabSz="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sz="2000"/>
                        <a:t>输入/输出双向护栏、五步思维链、哈希链防篡改审计</a:t>
                      </a:r>
                      <a:endParaRPr sz="2000"/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</a:tr>
              <a:tr h="9505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400" b="0">
                          <a:solidFill>
                            <a:srgbClr val="000000"/>
                          </a:solidFill>
                          <a:latin typeface="方正小标宋简体" panose="03000509000000000000" charset="-122"/>
                        </a:rPr>
                        <a:t>阶段三</a:t>
                      </a:r>
                      <a:endParaRPr sz="2400" b="0">
                        <a:solidFill>
                          <a:srgbClr val="000000"/>
                        </a:solidFill>
                        <a:latin typeface="方正小标宋简体" panose="03000509000000000000" charset="-122"/>
                      </a:endParaRPr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defTabSz="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sz="2000"/>
                        <a:t>大模型与 MCP 协议</a:t>
                      </a:r>
                      <a:endParaRPr sz="2000"/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defTabSz="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sz="2000"/>
                        <a:t>DeepSeek 意图理解 + 离线回退、标准 JSON-RPC 2.0 MCP stdio 服务端</a:t>
                      </a:r>
                      <a:endParaRPr sz="2000"/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</a:tr>
              <a:tr h="9499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400" b="0">
                          <a:solidFill>
                            <a:srgbClr val="000000"/>
                          </a:solidFill>
                          <a:latin typeface="方正小标宋简体" panose="03000509000000000000" charset="-122"/>
                        </a:rPr>
                        <a:t>阶段四</a:t>
                      </a:r>
                      <a:endParaRPr sz="2400" b="0">
                        <a:solidFill>
                          <a:srgbClr val="000000"/>
                        </a:solidFill>
                        <a:latin typeface="方正小标宋简体" panose="03000509000000000000" charset="-122"/>
                      </a:endParaRPr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defTabSz="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sz="2000"/>
                        <a:t>确认令牌与 Web 工作台</a:t>
                      </a:r>
                      <a:endParaRPr sz="2000"/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defTabSz="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sz="2000"/>
                        <a:t>一次性确认令牌、受管工作区回滚、CLI/Web 双入口演示</a:t>
                      </a:r>
                      <a:endParaRPr sz="2000"/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 rot="5400000">
            <a:off x="-2226945" y="2227580"/>
            <a:ext cx="6858000" cy="2403475"/>
          </a:xfrm>
          <a:prstGeom prst="rect">
            <a:avLst/>
          </a:prstGeom>
          <a:solidFill>
            <a:srgbClr val="01492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C00000"/>
              </a:solidFill>
            </a:endParaRPr>
          </a:p>
        </p:txBody>
      </p:sp>
      <p:grpSp>
        <p:nvGrpSpPr>
          <p:cNvPr id="20" name="组合 19"/>
          <p:cNvGrpSpPr/>
          <p:nvPr/>
        </p:nvGrpSpPr>
        <p:grpSpPr>
          <a:xfrm>
            <a:off x="0" y="1256291"/>
            <a:ext cx="2737505" cy="762000"/>
            <a:chOff x="0" y="772160"/>
            <a:chExt cx="2737505" cy="762000"/>
          </a:xfrm>
          <a:solidFill>
            <a:srgbClr val="9C0000"/>
          </a:solidFill>
        </p:grpSpPr>
        <p:sp>
          <p:nvSpPr>
            <p:cNvPr id="7" name="矩形 6"/>
            <p:cNvSpPr/>
            <p:nvPr/>
          </p:nvSpPr>
          <p:spPr>
            <a:xfrm>
              <a:off x="0" y="772160"/>
              <a:ext cx="2509520" cy="762000"/>
            </a:xfrm>
            <a:prstGeom prst="rect">
              <a:avLst/>
            </a:prstGeom>
            <a:grpFill/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" name="等腰三角形 17"/>
            <p:cNvSpPr/>
            <p:nvPr/>
          </p:nvSpPr>
          <p:spPr>
            <a:xfrm rot="5400000">
              <a:off x="2491281" y="1039167"/>
              <a:ext cx="264463" cy="227985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3" name="文本框 2"/>
          <p:cNvSpPr txBox="1"/>
          <p:nvPr/>
        </p:nvSpPr>
        <p:spPr>
          <a:xfrm>
            <a:off x="86360" y="1388371"/>
            <a:ext cx="23368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项目进展时间线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7310" y="2516722"/>
            <a:ext cx="23368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技术思路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67346" y="3553312"/>
            <a:ext cx="233680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现有工作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  <a:p>
            <a:pPr algn="ctr"/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7310" y="4622294"/>
            <a:ext cx="233680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后续展望与优化方向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23" name="矩形 22"/>
          <p:cNvSpPr/>
          <p:nvPr>
            <p:custDataLst>
              <p:tags r:id="rId1"/>
            </p:custDataLst>
          </p:nvPr>
        </p:nvSpPr>
        <p:spPr>
          <a:xfrm>
            <a:off x="2842895" y="1388110"/>
            <a:ext cx="9262110" cy="420370"/>
          </a:xfrm>
          <a:prstGeom prst="rect">
            <a:avLst/>
          </a:prstGeom>
          <a:solidFill>
            <a:srgbClr val="01492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2891201" y="567484"/>
            <a:ext cx="8596786" cy="688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sz="3600" b="1">
                <a:latin typeface="微软雅黑" panose="020B0503020204020204" pitchFamily="34" charset="-122"/>
              </a:rPr>
              <a:t>1.1 研发阶段划分与工作节奏</a:t>
            </a:r>
            <a:endParaRPr sz="3600" b="1">
              <a:latin typeface="微软雅黑" panose="020B0503020204020204" pitchFamily="34" charset="-122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3100705" y="1388110"/>
            <a:ext cx="8813514" cy="38141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sz="2400" b="1">
                <a:solidFill>
                  <a:schemeClr val="bg1"/>
                </a:solidFill>
                <a:latin typeface="方正小标宋简体" panose="03000509000000000000" charset="-122"/>
              </a:rPr>
              <a:t>质量保障与工程化</a:t>
            </a:r>
            <a:endParaRPr lang="zh-CN" altLang="en-US" sz="2400" b="1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方正小标宋简体" panose="03000509000000000000" charset="-122"/>
            </a:endParaRPr>
          </a:p>
        </p:txBody>
      </p:sp>
      <p:graphicFrame>
        <p:nvGraphicFramePr>
          <p:cNvPr id="10" name="表格 9"/>
          <p:cNvGraphicFramePr/>
          <p:nvPr/>
        </p:nvGraphicFramePr>
        <p:xfrm>
          <a:off x="2842908" y="1943172"/>
          <a:ext cx="9262110" cy="456520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55470"/>
                <a:gridCol w="3429539"/>
                <a:gridCol w="3977101"/>
              </a:tblGrid>
              <a:tr h="47985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400" b="1">
                          <a:solidFill>
                            <a:srgbClr val="000000"/>
                          </a:solidFill>
                          <a:latin typeface="方正小标宋简体" panose="03000509000000000000" charset="-122"/>
                        </a:rPr>
                        <a:t>维度</a:t>
                      </a:r>
                      <a:endParaRPr lang="zh-CN" altLang="en-US" sz="2400" b="1" dirty="0">
                        <a:solidFill>
                          <a:srgbClr val="000000"/>
                        </a:solidFill>
                        <a:latin typeface="方正小标宋简体" panose="03000509000000000000" charset="-122"/>
                        <a:ea typeface="方正小标宋简体" panose="03000509000000000000" charset="-122"/>
                      </a:endParaRPr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defTabSz="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sz="2400" b="1">
                          <a:solidFill>
                            <a:srgbClr val="000000"/>
                          </a:solidFill>
                          <a:latin typeface="方正小标宋简体" panose="03000509000000000000" charset="-122"/>
                        </a:rPr>
                        <a:t>目标</a:t>
                      </a:r>
                      <a:endParaRPr lang="zh-CN" altLang="en-US" sz="2400" b="1">
                        <a:solidFill>
                          <a:srgbClr val="000000"/>
                        </a:solidFill>
                        <a:latin typeface="方正小标宋简体" panose="03000509000000000000" charset="-122"/>
                        <a:ea typeface="方正小标宋简体" panose="03000509000000000000" charset="-122"/>
                      </a:endParaRPr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400" b="1">
                          <a:solidFill>
                            <a:srgbClr val="000000"/>
                          </a:solidFill>
                          <a:latin typeface="方正小标宋简体" panose="03000509000000000000" charset="-122"/>
                        </a:rPr>
                        <a:t>工作重点</a:t>
                      </a:r>
                      <a:endParaRPr sz="2400" b="1">
                        <a:solidFill>
                          <a:srgbClr val="000000"/>
                        </a:solidFill>
                        <a:latin typeface="方正小标宋简体" panose="03000509000000000000" charset="-122"/>
                      </a:endParaRPr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</a:tr>
              <a:tr h="240595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400" b="0">
                          <a:solidFill>
                            <a:srgbClr val="000000"/>
                          </a:solidFill>
                          <a:latin typeface="方正小标宋简体" panose="03000509000000000000" charset="-122"/>
                        </a:rPr>
                        <a:t>质量保障</a:t>
                      </a:r>
                      <a:endParaRPr sz="2400" b="0">
                        <a:solidFill>
                          <a:srgbClr val="000000"/>
                        </a:solidFill>
                        <a:latin typeface="方正小标宋简体" panose="03000509000000000000" charset="-122"/>
                      </a:endParaRPr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000"/>
                        <a:t>回归可持续</a:t>
                      </a:r>
                      <a:endParaRPr lang="zh-CN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000"/>
                        <a:t>发现边界问题即固化为规则与单元测试，当前 130+ 个 unittest 全部离线通过</a:t>
                      </a:r>
                      <a:endParaRPr lang="zh-CN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</a:tr>
              <a:tr h="167938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400" b="0">
                          <a:solidFill>
                            <a:srgbClr val="000000"/>
                          </a:solidFill>
                          <a:latin typeface="方正小标宋简体" panose="03000509000000000000" charset="-122"/>
                        </a:rPr>
                        <a:t>性能与复现</a:t>
                      </a:r>
                      <a:endParaRPr sz="2400" b="0">
                        <a:solidFill>
                          <a:srgbClr val="000000"/>
                        </a:solidFill>
                        <a:latin typeface="方正小标宋简体" panose="03000509000000000000" charset="-122"/>
                      </a:endParaRPr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defTabSz="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sz="2000"/>
                        <a:t>可离线、可复现</a:t>
                      </a:r>
                      <a:endParaRPr sz="2000"/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defTabSz="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sz="2000"/>
                        <a:t>大模型 8s 超时 + 失败自动回退规则；SAFEOPS_LLM_DISABLED 一键离线复现</a:t>
                      </a:r>
                      <a:endParaRPr sz="2000"/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 rot="5400000">
            <a:off x="-2226945" y="2227580"/>
            <a:ext cx="6858000" cy="2403475"/>
          </a:xfrm>
          <a:prstGeom prst="rect">
            <a:avLst/>
          </a:prstGeom>
          <a:solidFill>
            <a:srgbClr val="01492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C00000"/>
              </a:solidFill>
            </a:endParaRPr>
          </a:p>
        </p:txBody>
      </p:sp>
      <p:grpSp>
        <p:nvGrpSpPr>
          <p:cNvPr id="20" name="组合 19"/>
          <p:cNvGrpSpPr/>
          <p:nvPr/>
        </p:nvGrpSpPr>
        <p:grpSpPr>
          <a:xfrm>
            <a:off x="0" y="1256291"/>
            <a:ext cx="2737505" cy="762000"/>
            <a:chOff x="0" y="772160"/>
            <a:chExt cx="2737505" cy="762000"/>
          </a:xfrm>
          <a:solidFill>
            <a:srgbClr val="9C0000"/>
          </a:solidFill>
        </p:grpSpPr>
        <p:sp>
          <p:nvSpPr>
            <p:cNvPr id="7" name="矩形 6"/>
            <p:cNvSpPr/>
            <p:nvPr/>
          </p:nvSpPr>
          <p:spPr>
            <a:xfrm>
              <a:off x="0" y="772160"/>
              <a:ext cx="2509520" cy="762000"/>
            </a:xfrm>
            <a:prstGeom prst="rect">
              <a:avLst/>
            </a:prstGeom>
            <a:grpFill/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" name="等腰三角形 17"/>
            <p:cNvSpPr/>
            <p:nvPr/>
          </p:nvSpPr>
          <p:spPr>
            <a:xfrm rot="5400000">
              <a:off x="2491281" y="1039167"/>
              <a:ext cx="264463" cy="227985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3" name="文本框 2"/>
          <p:cNvSpPr txBox="1"/>
          <p:nvPr/>
        </p:nvSpPr>
        <p:spPr>
          <a:xfrm>
            <a:off x="86360" y="1388371"/>
            <a:ext cx="23368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项目进展时间线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7310" y="2516722"/>
            <a:ext cx="23368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技术思路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67346" y="3553312"/>
            <a:ext cx="233680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现有工作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  <a:p>
            <a:pPr algn="ctr"/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7310" y="4622294"/>
            <a:ext cx="233680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后续展望与优化方向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23" name="矩形 22"/>
          <p:cNvSpPr/>
          <p:nvPr>
            <p:custDataLst>
              <p:tags r:id="rId1"/>
            </p:custDataLst>
          </p:nvPr>
        </p:nvSpPr>
        <p:spPr>
          <a:xfrm>
            <a:off x="2842895" y="1388110"/>
            <a:ext cx="9262110" cy="420370"/>
          </a:xfrm>
          <a:prstGeom prst="rect">
            <a:avLst/>
          </a:prstGeom>
          <a:solidFill>
            <a:srgbClr val="01492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2583815" y="283845"/>
            <a:ext cx="7137400" cy="97218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sz="2800" b="1">
                <a:latin typeface="微软雅黑" panose="020B0503020204020204" pitchFamily="34" charset="-122"/>
              </a:rPr>
              <a:t>1.2 从规则闭环到安全护栏：总体研发过程</a:t>
            </a:r>
            <a:endParaRPr sz="2800" b="1">
              <a:latin typeface="微软雅黑" panose="020B0503020204020204" pitchFamily="34" charset="-122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3100705" y="1388110"/>
            <a:ext cx="4704080" cy="38163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sz="2400" b="1">
                <a:solidFill>
                  <a:schemeClr val="bg1"/>
                </a:solidFill>
                <a:latin typeface="方正小标宋简体" panose="03000509000000000000" charset="-122"/>
              </a:rPr>
              <a:t>阶段一：MVP 安全运维闭环</a:t>
            </a:r>
            <a:endParaRPr lang="zh-CN" altLang="en-US" sz="2400" b="1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方正小标宋简体" panose="03000509000000000000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2746743" y="2127011"/>
            <a:ext cx="9454456" cy="1339928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marL="342900" indent="-342900" algn="l" defTabSz="0" rtl="0" eaLnBrk="1" fontAlgn="auto" latinLnBrk="0" hangingPunct="1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2000">
                <a:solidFill>
                  <a:srgbClr val="000000"/>
                </a:solidFill>
                <a:latin typeface="微软雅黑" panose="020B0503020204020204" pitchFamily="34" charset="-122"/>
              </a:rPr>
              <a:t>搭建 cli / agent / policy / tools 主链路</a:t>
            </a:r>
            <a:endParaRPr lang="en-US" altLang="zh-CN" sz="200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342900" indent="-3429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sz="2000">
                <a:solidFill>
                  <a:srgbClr val="000000"/>
                </a:solidFill>
                <a:latin typeface="微软雅黑" panose="020B0503020204020204" pitchFamily="34" charset="-122"/>
              </a:rPr>
              <a:t>实现 19+ 最小权限白名单工具，禁任意 shell 执行</a:t>
            </a:r>
            <a:endParaRPr sz="2000">
              <a:solidFill>
                <a:srgbClr val="000000"/>
              </a:solidFill>
              <a:latin typeface="微软雅黑" panose="020B0503020204020204" pitchFamily="34" charset="-122"/>
            </a:endParaRPr>
          </a:p>
          <a:p>
            <a:pPr marL="342900" indent="-3429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sz="2000">
                <a:solidFill>
                  <a:srgbClr val="000000"/>
                </a:solidFill>
                <a:latin typeface="微软雅黑" panose="020B0503020204020204" pitchFamily="34" charset="-122"/>
              </a:rPr>
              <a:t>打通“自然语言 → 意图识别 → 风险裁决 → 工具执行”闭环</a:t>
            </a:r>
            <a:endParaRPr sz="2000">
              <a:solidFill>
                <a:srgbClr val="00000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2" name="矩形 11"/>
          <p:cNvSpPr/>
          <p:nvPr>
            <p:custDataLst>
              <p:tags r:id="rId2"/>
            </p:custDataLst>
          </p:nvPr>
        </p:nvSpPr>
        <p:spPr>
          <a:xfrm>
            <a:off x="2833712" y="3758079"/>
            <a:ext cx="9262110" cy="420370"/>
          </a:xfrm>
          <a:prstGeom prst="rect">
            <a:avLst/>
          </a:prstGeom>
          <a:solidFill>
            <a:srgbClr val="01492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文本框 13"/>
          <p:cNvSpPr txBox="1"/>
          <p:nvPr/>
        </p:nvSpPr>
        <p:spPr>
          <a:xfrm>
            <a:off x="3100732" y="3758031"/>
            <a:ext cx="7315200" cy="4603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sz="2400" b="1">
                <a:solidFill>
                  <a:schemeClr val="bg1"/>
                </a:solidFill>
                <a:latin typeface="方正小标宋简体" panose="03000509000000000000" charset="-122"/>
              </a:rPr>
              <a:t>阶段二：双向护栏与审计链</a:t>
            </a:r>
            <a:endParaRPr sz="2400" b="1">
              <a:solidFill>
                <a:schemeClr val="bg1"/>
              </a:solidFill>
              <a:latin typeface="方正小标宋简体" panose="03000509000000000000" charset="-122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2794635" y="4622165"/>
            <a:ext cx="9357995" cy="130683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sz="2000">
                <a:solidFill>
                  <a:srgbClr val="000000"/>
                </a:solidFill>
                <a:latin typeface="微软雅黑" panose="020B0503020204020204" pitchFamily="34" charset="-122"/>
              </a:rPr>
              <a:t>新增输入/输出双向意图过滤，拦截高危关键词与敏感路径</a:t>
            </a:r>
            <a:endParaRPr lang="en-US" altLang="zh-CN" sz="200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sz="2000">
                <a:solidFill>
                  <a:srgbClr val="000000"/>
                </a:solidFill>
                <a:latin typeface="微软雅黑" panose="020B0503020204020204" pitchFamily="34" charset="-122"/>
              </a:rPr>
              <a:t>建立五步思维链审计与哈希链防篡改机制</a:t>
            </a:r>
            <a:endParaRPr sz="2000">
              <a:solidFill>
                <a:srgbClr val="000000"/>
              </a:solidFill>
              <a:latin typeface="微软雅黑" panose="020B0503020204020204" pitchFamily="34" charset="-122"/>
            </a:endParaRP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sz="2000">
                <a:solidFill>
                  <a:srgbClr val="000000"/>
                </a:solidFill>
                <a:latin typeface="微软雅黑" panose="020B0503020204020204" pitchFamily="34" charset="-122"/>
              </a:rPr>
              <a:t>三级风险策略：低风险直执行 / 中风险确认 / 高风险拒绝</a:t>
            </a:r>
            <a:endParaRPr sz="2000">
              <a:solidFill>
                <a:srgbClr val="000000"/>
              </a:solidFill>
              <a:latin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 rot="5400000">
            <a:off x="-2226945" y="2227580"/>
            <a:ext cx="6858000" cy="2403475"/>
          </a:xfrm>
          <a:prstGeom prst="rect">
            <a:avLst/>
          </a:prstGeom>
          <a:solidFill>
            <a:srgbClr val="01492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C00000"/>
              </a:solidFill>
            </a:endParaRPr>
          </a:p>
        </p:txBody>
      </p:sp>
      <p:grpSp>
        <p:nvGrpSpPr>
          <p:cNvPr id="20" name="组合 19"/>
          <p:cNvGrpSpPr/>
          <p:nvPr/>
        </p:nvGrpSpPr>
        <p:grpSpPr>
          <a:xfrm>
            <a:off x="0" y="1256291"/>
            <a:ext cx="2737505" cy="762000"/>
            <a:chOff x="0" y="772160"/>
            <a:chExt cx="2737505" cy="762000"/>
          </a:xfrm>
          <a:solidFill>
            <a:srgbClr val="9C0000"/>
          </a:solidFill>
        </p:grpSpPr>
        <p:sp>
          <p:nvSpPr>
            <p:cNvPr id="7" name="矩形 6"/>
            <p:cNvSpPr/>
            <p:nvPr/>
          </p:nvSpPr>
          <p:spPr>
            <a:xfrm>
              <a:off x="0" y="772160"/>
              <a:ext cx="2509520" cy="762000"/>
            </a:xfrm>
            <a:prstGeom prst="rect">
              <a:avLst/>
            </a:prstGeom>
            <a:grpFill/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" name="等腰三角形 17"/>
            <p:cNvSpPr/>
            <p:nvPr/>
          </p:nvSpPr>
          <p:spPr>
            <a:xfrm rot="5400000">
              <a:off x="2491281" y="1039167"/>
              <a:ext cx="264463" cy="227985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3" name="文本框 2"/>
          <p:cNvSpPr txBox="1"/>
          <p:nvPr/>
        </p:nvSpPr>
        <p:spPr>
          <a:xfrm>
            <a:off x="86360" y="1388371"/>
            <a:ext cx="23368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项目进展时间线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7310" y="2516722"/>
            <a:ext cx="23368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技术思路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67346" y="3553312"/>
            <a:ext cx="233680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现有工作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  <a:p>
            <a:pPr algn="ctr"/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7310" y="4622294"/>
            <a:ext cx="233680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后续展望与优化方向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23" name="矩形 22"/>
          <p:cNvSpPr/>
          <p:nvPr>
            <p:custDataLst>
              <p:tags r:id="rId1"/>
            </p:custDataLst>
          </p:nvPr>
        </p:nvSpPr>
        <p:spPr>
          <a:xfrm>
            <a:off x="2842895" y="1388110"/>
            <a:ext cx="9262745" cy="420370"/>
          </a:xfrm>
          <a:prstGeom prst="rect">
            <a:avLst/>
          </a:prstGeom>
          <a:solidFill>
            <a:srgbClr val="01492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19" name="标题 1"/>
          <p:cNvSpPr txBox="1"/>
          <p:nvPr/>
        </p:nvSpPr>
        <p:spPr>
          <a:xfrm>
            <a:off x="2891155" y="135890"/>
            <a:ext cx="6510020" cy="11201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sz="3600" b="1">
                <a:latin typeface="微软雅黑" panose="020B0503020204020204" pitchFamily="34" charset="-122"/>
              </a:rPr>
              <a:t>1.2 从规则闭环到安全护栏：总体研发过程</a:t>
            </a:r>
            <a:endParaRPr sz="3600" b="1">
              <a:latin typeface="微软雅黑" panose="020B0503020204020204" pitchFamily="34" charset="-122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2842895" y="1388110"/>
            <a:ext cx="6223000" cy="38163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sz="2400" b="1">
                <a:solidFill>
                  <a:schemeClr val="bg1"/>
                </a:solidFill>
                <a:latin typeface="方正小标宋简体" panose="03000509000000000000" charset="-122"/>
              </a:rPr>
              <a:t>阶段三：大模型意图理解与 MCP 协议</a:t>
            </a:r>
            <a:endParaRPr sz="2400" b="1">
              <a:solidFill>
                <a:schemeClr val="bg1"/>
              </a:solidFill>
              <a:latin typeface="方正小标宋简体" panose="03000509000000000000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2747010" y="2012950"/>
            <a:ext cx="9454515" cy="188785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charset="0"/>
              <a:buChar char="l"/>
            </a:pPr>
            <a:r>
              <a:rPr sz="2000">
                <a:solidFill>
                  <a:srgbClr val="000000"/>
                </a:solidFill>
                <a:latin typeface="微软雅黑" panose="020B0503020204020204" pitchFamily="34" charset="-122"/>
              </a:rPr>
              <a:t>实现规则意图识别与参数抽取，支持多轮上下文与指代解析</a:t>
            </a:r>
            <a:endParaRPr lang="en-US" altLang="zh-CN" sz="200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charset="0"/>
              <a:buChar char="l"/>
            </a:pPr>
            <a:r>
              <a:rPr sz="2000">
                <a:solidFill>
                  <a:srgbClr val="000000"/>
                </a:solidFill>
                <a:latin typeface="微软雅黑" panose="020B0503020204020204" pitchFamily="34" charset="-122"/>
              </a:rPr>
              <a:t>接入 DeepSeek</a:t>
            </a:r>
            <a:r>
              <a:rPr lang="en-US" sz="2000">
                <a:solidFill>
                  <a:srgbClr val="000000"/>
                </a:solidFill>
                <a:latin typeface="微软雅黑" panose="020B0503020204020204" pitchFamily="34" charset="-122"/>
              </a:rPr>
              <a:t> </a:t>
            </a:r>
            <a:r>
              <a:rPr sz="2000">
                <a:solidFill>
                  <a:srgbClr val="000000"/>
                </a:solidFill>
                <a:latin typeface="微软雅黑" panose="020B0503020204020204" pitchFamily="34" charset="-122"/>
              </a:rPr>
              <a:t>/OpenAI 兼容大模型，dry-run + 审计 + 失败回退三道闸门</a:t>
            </a:r>
            <a:endParaRPr lang="zh-CN" sz="2000">
              <a:solidFill>
                <a:srgbClr val="000000"/>
              </a:solidFill>
              <a:latin typeface="微软雅黑" panose="020B0503020204020204" pitchFamily="34" charset="-122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charset="0"/>
              <a:buChar char="l"/>
            </a:pPr>
            <a:r>
              <a:rPr sz="2000">
                <a:solidFill>
                  <a:srgbClr val="000000"/>
                </a:solidFill>
                <a:latin typeface="微软雅黑" panose="020B0503020204020204" pitchFamily="34" charset="-122"/>
              </a:rPr>
              <a:t>新增输出侧护栏，审计 LLM 追问/推理文本是否越权或触碰高危操作</a:t>
            </a:r>
            <a:endParaRPr sz="2000">
              <a:solidFill>
                <a:srgbClr val="00000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2" name="矩形 11"/>
          <p:cNvSpPr/>
          <p:nvPr>
            <p:custDataLst>
              <p:tags r:id="rId2"/>
            </p:custDataLst>
          </p:nvPr>
        </p:nvSpPr>
        <p:spPr>
          <a:xfrm>
            <a:off x="2833712" y="4189879"/>
            <a:ext cx="9262110" cy="420370"/>
          </a:xfrm>
          <a:prstGeom prst="rect">
            <a:avLst/>
          </a:prstGeom>
          <a:solidFill>
            <a:srgbClr val="01492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文本框 13"/>
          <p:cNvSpPr txBox="1"/>
          <p:nvPr/>
        </p:nvSpPr>
        <p:spPr>
          <a:xfrm>
            <a:off x="3100705" y="4189730"/>
            <a:ext cx="7449820" cy="4603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sz="2400" b="1">
                <a:solidFill>
                  <a:schemeClr val="bg1"/>
                </a:solidFill>
                <a:latin typeface="方正小标宋简体" panose="03000509000000000000" charset="-122"/>
              </a:rPr>
              <a:t>阶段四：确认令牌与 Web 工作台</a:t>
            </a:r>
            <a:endParaRPr sz="2400" b="1">
              <a:solidFill>
                <a:schemeClr val="bg1"/>
              </a:solidFill>
              <a:latin typeface="方正小标宋简体" panose="03000509000000000000" charset="-122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2834005" y="4815205"/>
            <a:ext cx="9043670" cy="152717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marL="342900" indent="-342900">
              <a:lnSpc>
                <a:spcPct val="160000"/>
              </a:lnSpc>
              <a:buFont typeface="Wingdings" panose="05000000000000000000" charset="0"/>
              <a:buChar char="l"/>
            </a:pPr>
            <a:r>
              <a:rPr sz="2000">
                <a:solidFill>
                  <a:srgbClr val="000000"/>
                </a:solidFill>
                <a:latin typeface="微软雅黑" panose="020B0503020204020204" pitchFamily="34" charset="-122"/>
              </a:rPr>
              <a:t>一次性确认令牌：预演与执行严格一致、限时、绑定会话</a:t>
            </a:r>
            <a:endParaRPr lang="en-US" altLang="zh-CN" sz="200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342900" indent="-342900">
              <a:lnSpc>
                <a:spcPct val="160000"/>
              </a:lnSpc>
              <a:buFont typeface="Wingdings" panose="05000000000000000000" charset="0"/>
              <a:buChar char="l"/>
            </a:pPr>
            <a:r>
              <a:rPr sz="2000">
                <a:solidFill>
                  <a:srgbClr val="000000"/>
                </a:solidFill>
                <a:latin typeface="微软雅黑" panose="020B0503020204020204" pitchFamily="34" charset="-122"/>
              </a:rPr>
              <a:t>CLI + Web 双入口，Web 按会话隔离上下文、一键确认中风险</a:t>
            </a:r>
            <a:endParaRPr sz="2000">
              <a:solidFill>
                <a:srgbClr val="000000"/>
              </a:solidFill>
              <a:latin typeface="微软雅黑" panose="020B0503020204020204" pitchFamily="34" charset="-122"/>
            </a:endParaRPr>
          </a:p>
          <a:p>
            <a:pPr marL="342900" indent="-342900">
              <a:lnSpc>
                <a:spcPct val="160000"/>
              </a:lnSpc>
              <a:buFont typeface="Wingdings" panose="05000000000000000000" charset="0"/>
              <a:buChar char="l"/>
            </a:pPr>
            <a:r>
              <a:rPr sz="2000">
                <a:solidFill>
                  <a:srgbClr val="000000"/>
                </a:solidFill>
                <a:latin typeface="微软雅黑" panose="020B0503020204020204" pitchFamily="34" charset="-122"/>
              </a:rPr>
              <a:t>受管工作区写前快照与真实回滚，服务生命周期真实执行 systemctl</a:t>
            </a:r>
            <a:endParaRPr sz="2000">
              <a:solidFill>
                <a:srgbClr val="000000"/>
              </a:solidFill>
              <a:latin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 rot="5400000">
            <a:off x="-2226945" y="2227580"/>
            <a:ext cx="6858000" cy="2403475"/>
          </a:xfrm>
          <a:prstGeom prst="rect">
            <a:avLst/>
          </a:prstGeom>
          <a:solidFill>
            <a:srgbClr val="01492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C00000"/>
              </a:solidFill>
            </a:endParaRPr>
          </a:p>
        </p:txBody>
      </p:sp>
      <p:grpSp>
        <p:nvGrpSpPr>
          <p:cNvPr id="20" name="组合 19"/>
          <p:cNvGrpSpPr/>
          <p:nvPr/>
        </p:nvGrpSpPr>
        <p:grpSpPr>
          <a:xfrm>
            <a:off x="0" y="1256291"/>
            <a:ext cx="2737505" cy="762000"/>
            <a:chOff x="0" y="772160"/>
            <a:chExt cx="2737505" cy="762000"/>
          </a:xfrm>
          <a:solidFill>
            <a:srgbClr val="9C0000"/>
          </a:solidFill>
        </p:grpSpPr>
        <p:sp>
          <p:nvSpPr>
            <p:cNvPr id="7" name="矩形 6"/>
            <p:cNvSpPr/>
            <p:nvPr/>
          </p:nvSpPr>
          <p:spPr>
            <a:xfrm>
              <a:off x="0" y="772160"/>
              <a:ext cx="2509520" cy="762000"/>
            </a:xfrm>
            <a:prstGeom prst="rect">
              <a:avLst/>
            </a:prstGeom>
            <a:grpFill/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" name="等腰三角形 17"/>
            <p:cNvSpPr/>
            <p:nvPr/>
          </p:nvSpPr>
          <p:spPr>
            <a:xfrm rot="5400000">
              <a:off x="2491281" y="1039167"/>
              <a:ext cx="264463" cy="227985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3" name="文本框 2"/>
          <p:cNvSpPr txBox="1"/>
          <p:nvPr/>
        </p:nvSpPr>
        <p:spPr>
          <a:xfrm>
            <a:off x="86360" y="1388371"/>
            <a:ext cx="23368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项目进展时间线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7310" y="2516722"/>
            <a:ext cx="23368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技术思路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67346" y="3553312"/>
            <a:ext cx="233680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现有工作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  <a:p>
            <a:pPr algn="ctr"/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7310" y="4622294"/>
            <a:ext cx="233680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后续展望与优化方向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23" name="矩形 22"/>
          <p:cNvSpPr/>
          <p:nvPr>
            <p:custDataLst>
              <p:tags r:id="rId1"/>
            </p:custDataLst>
          </p:nvPr>
        </p:nvSpPr>
        <p:spPr>
          <a:xfrm>
            <a:off x="2842895" y="1388110"/>
            <a:ext cx="9262110" cy="420370"/>
          </a:xfrm>
          <a:prstGeom prst="rect">
            <a:avLst/>
          </a:prstGeom>
          <a:solidFill>
            <a:srgbClr val="01492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2891155" y="295275"/>
            <a:ext cx="6762115" cy="9607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sz="3600" b="1">
                <a:latin typeface="微软雅黑" panose="020B0503020204020204" pitchFamily="34" charset="-122"/>
              </a:rPr>
              <a:t>1.2 从规则闭环到安全护栏：总体研发过程</a:t>
            </a:r>
            <a:endParaRPr sz="3600" b="1">
              <a:latin typeface="微软雅黑" panose="020B0503020204020204" pitchFamily="34" charset="-122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3100705" y="1388110"/>
            <a:ext cx="4788236" cy="38141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sz="2400" b="1">
                <a:solidFill>
                  <a:schemeClr val="bg1"/>
                </a:solidFill>
                <a:latin typeface="方正小标宋简体" panose="03000509000000000000" charset="-122"/>
              </a:rPr>
              <a:t>工程质量保障</a:t>
            </a:r>
            <a:endParaRPr sz="2400" b="1">
              <a:solidFill>
                <a:schemeClr val="bg1"/>
              </a:solidFill>
              <a:latin typeface="方正小标宋简体" panose="03000509000000000000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2834005" y="2087880"/>
            <a:ext cx="9180830" cy="146558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marL="342900" indent="-342900">
              <a:lnSpc>
                <a:spcPct val="140000"/>
              </a:lnSpc>
              <a:buFont typeface="Wingdings" panose="05000000000000000000" charset="0"/>
              <a:buChar char="l"/>
            </a:pPr>
            <a:r>
              <a:rPr sz="2000">
                <a:solidFill>
                  <a:srgbClr val="000000"/>
                </a:solidFill>
                <a:latin typeface="微软雅黑" panose="020B0503020204020204" pitchFamily="34" charset="-122"/>
              </a:rPr>
              <a:t>全程以“发现边界问题 → 固化为规则与单元测试”方式迭代</a:t>
            </a:r>
            <a:endParaRPr lang="en-US" altLang="zh-CN" sz="20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342900" indent="-342900">
              <a:lnSpc>
                <a:spcPct val="140000"/>
              </a:lnSpc>
              <a:buFont typeface="Wingdings" panose="05000000000000000000" charset="0"/>
              <a:buChar char="l"/>
            </a:pPr>
            <a:r>
              <a:rPr sz="2000">
                <a:solidFill>
                  <a:srgbClr val="000000"/>
                </a:solidFill>
                <a:latin typeface="微软雅黑" panose="020B0503020204020204" pitchFamily="34" charset="-122"/>
              </a:rPr>
              <a:t>覆盖策略裁决、令牌闭环、哈希链审计、MCP 契约、护栏拦截等</a:t>
            </a:r>
            <a:endParaRPr sz="2000">
              <a:solidFill>
                <a:srgbClr val="000000"/>
              </a:solidFill>
              <a:latin typeface="微软雅黑" panose="020B0503020204020204" pitchFamily="34" charset="-122"/>
            </a:endParaRPr>
          </a:p>
          <a:p>
            <a:pPr marL="342900" indent="-342900">
              <a:lnSpc>
                <a:spcPct val="140000"/>
              </a:lnSpc>
              <a:buFont typeface="Wingdings" panose="05000000000000000000" charset="0"/>
              <a:buChar char="l"/>
            </a:pPr>
            <a:r>
              <a:rPr sz="2000">
                <a:solidFill>
                  <a:srgbClr val="000000"/>
                </a:solidFill>
                <a:latin typeface="微软雅黑" panose="020B0503020204020204" pitchFamily="34" charset="-122"/>
              </a:rPr>
              <a:t>当前 130+ 个 unittest 全部离线确定性通过</a:t>
            </a:r>
            <a:endParaRPr sz="2000">
              <a:solidFill>
                <a:srgbClr val="00000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2" name="矩形 11"/>
          <p:cNvSpPr/>
          <p:nvPr>
            <p:custDataLst>
              <p:tags r:id="rId2"/>
            </p:custDataLst>
          </p:nvPr>
        </p:nvSpPr>
        <p:spPr>
          <a:xfrm>
            <a:off x="2833712" y="4006364"/>
            <a:ext cx="9262110" cy="420370"/>
          </a:xfrm>
          <a:prstGeom prst="rect">
            <a:avLst/>
          </a:prstGeom>
          <a:solidFill>
            <a:srgbClr val="01492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文本框 13"/>
          <p:cNvSpPr txBox="1"/>
          <p:nvPr/>
        </p:nvSpPr>
        <p:spPr>
          <a:xfrm>
            <a:off x="3100732" y="4006316"/>
            <a:ext cx="7315200" cy="4603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sz="2400" b="1">
                <a:solidFill>
                  <a:schemeClr val="bg1"/>
                </a:solidFill>
                <a:latin typeface="方正小标宋简体" panose="03000509000000000000" charset="-122"/>
              </a:rPr>
              <a:t>性能与可复现</a:t>
            </a:r>
            <a:endParaRPr sz="2400" b="1">
              <a:solidFill>
                <a:schemeClr val="bg1"/>
              </a:solidFill>
              <a:latin typeface="方正小标宋简体" panose="03000509000000000000" charset="-122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2834005" y="4631690"/>
            <a:ext cx="9043670" cy="157670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charset="0"/>
              <a:buChar char="l"/>
            </a:pPr>
            <a:r>
              <a:rPr sz="2000"/>
              <a:t>大模型 8s 超时 + 失败自动回退规则，演示不中断</a:t>
            </a:r>
            <a:endParaRPr lang="en-US" altLang="zh-CN" sz="2000" dirty="0"/>
          </a:p>
          <a:p>
            <a:pPr marL="342900" indent="-342900">
              <a:lnSpc>
                <a:spcPct val="150000"/>
              </a:lnSpc>
              <a:buFont typeface="Wingdings" panose="05000000000000000000" charset="0"/>
              <a:buChar char="l"/>
            </a:pPr>
            <a:r>
              <a:rPr sz="2000"/>
              <a:t>SAFEOPS_LLM_DISABLED 一键强制离线，测试零 API 费用</a:t>
            </a:r>
            <a:endParaRPr sz="2000"/>
          </a:p>
          <a:p>
            <a:pPr marL="342900" indent="-342900">
              <a:lnSpc>
                <a:spcPct val="150000"/>
              </a:lnSpc>
              <a:buFont typeface="Wingdings" panose="05000000000000000000" charset="0"/>
              <a:buChar char="l"/>
            </a:pPr>
            <a:r>
              <a:rPr sz="2000"/>
              <a:t>核心运维链路本地可离线运行，LLM 仅为可选增强</a:t>
            </a:r>
            <a:endParaRPr sz="20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 rot="5400000">
            <a:off x="-2226945" y="2227580"/>
            <a:ext cx="6858000" cy="2403475"/>
          </a:xfrm>
          <a:prstGeom prst="rect">
            <a:avLst/>
          </a:prstGeom>
          <a:solidFill>
            <a:srgbClr val="01492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C00000"/>
              </a:solidFill>
            </a:endParaRPr>
          </a:p>
        </p:txBody>
      </p:sp>
      <p:grpSp>
        <p:nvGrpSpPr>
          <p:cNvPr id="20" name="组合 19"/>
          <p:cNvGrpSpPr/>
          <p:nvPr/>
        </p:nvGrpSpPr>
        <p:grpSpPr>
          <a:xfrm>
            <a:off x="0" y="2173866"/>
            <a:ext cx="2737505" cy="762000"/>
            <a:chOff x="0" y="772160"/>
            <a:chExt cx="2737505" cy="762000"/>
          </a:xfrm>
          <a:solidFill>
            <a:srgbClr val="9C0000"/>
          </a:solidFill>
        </p:grpSpPr>
        <p:sp>
          <p:nvSpPr>
            <p:cNvPr id="7" name="矩形 6"/>
            <p:cNvSpPr/>
            <p:nvPr/>
          </p:nvSpPr>
          <p:spPr>
            <a:xfrm>
              <a:off x="0" y="772160"/>
              <a:ext cx="2509520" cy="762000"/>
            </a:xfrm>
            <a:prstGeom prst="rect">
              <a:avLst/>
            </a:prstGeom>
            <a:grpFill/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" name="等腰三角形 17"/>
            <p:cNvSpPr/>
            <p:nvPr/>
          </p:nvSpPr>
          <p:spPr>
            <a:xfrm rot="5400000">
              <a:off x="2491281" y="1039167"/>
              <a:ext cx="264463" cy="227985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9" name="标题 1"/>
          <p:cNvSpPr txBox="1"/>
          <p:nvPr/>
        </p:nvSpPr>
        <p:spPr>
          <a:xfrm>
            <a:off x="2891201" y="567484"/>
            <a:ext cx="8596786" cy="688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sz="3600" b="1">
                <a:latin typeface="微软雅黑" panose="020B0503020204020204" pitchFamily="34" charset="-122"/>
              </a:rPr>
              <a:t>2.1 整体架构设计</a:t>
            </a:r>
            <a:endParaRPr sz="3600" b="1">
              <a:latin typeface="微软雅黑" panose="020B0503020204020204" pitchFamily="34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86360" y="1237241"/>
            <a:ext cx="23368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项目进展时间线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31" name="文本框 30"/>
          <p:cNvSpPr txBox="1"/>
          <p:nvPr/>
        </p:nvSpPr>
        <p:spPr>
          <a:xfrm>
            <a:off x="67310" y="2365592"/>
            <a:ext cx="23368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技术思路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32" name="文本框 31"/>
          <p:cNvSpPr txBox="1"/>
          <p:nvPr/>
        </p:nvSpPr>
        <p:spPr>
          <a:xfrm>
            <a:off x="86388" y="3407886"/>
            <a:ext cx="2336800" cy="564967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现有工作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  <a:p>
            <a:pPr algn="ctr"/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33" name="文本框 32"/>
          <p:cNvSpPr txBox="1"/>
          <p:nvPr/>
        </p:nvSpPr>
        <p:spPr>
          <a:xfrm>
            <a:off x="67310" y="4471164"/>
            <a:ext cx="233680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后续展望与优化方向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3" name="矩形 2"/>
          <p:cNvSpPr/>
          <p:nvPr>
            <p:custDataLst>
              <p:tags r:id="rId1"/>
            </p:custDataLst>
          </p:nvPr>
        </p:nvSpPr>
        <p:spPr>
          <a:xfrm>
            <a:off x="2842895" y="1355725"/>
            <a:ext cx="9262110" cy="420370"/>
          </a:xfrm>
          <a:prstGeom prst="rect">
            <a:avLst/>
          </a:prstGeom>
          <a:solidFill>
            <a:srgbClr val="01492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4" name="Picture 33" descr="kernelsage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3865" y="1797685"/>
            <a:ext cx="8949055" cy="503364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 rot="5400000">
            <a:off x="-2226945" y="2227580"/>
            <a:ext cx="6858000" cy="2403475"/>
          </a:xfrm>
          <a:prstGeom prst="rect">
            <a:avLst/>
          </a:prstGeom>
          <a:solidFill>
            <a:srgbClr val="01492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C00000"/>
              </a:solidFill>
            </a:endParaRPr>
          </a:p>
        </p:txBody>
      </p:sp>
      <p:grpSp>
        <p:nvGrpSpPr>
          <p:cNvPr id="20" name="组合 19"/>
          <p:cNvGrpSpPr/>
          <p:nvPr/>
        </p:nvGrpSpPr>
        <p:grpSpPr>
          <a:xfrm>
            <a:off x="0" y="2173866"/>
            <a:ext cx="2737505" cy="762000"/>
            <a:chOff x="0" y="772160"/>
            <a:chExt cx="2737505" cy="762000"/>
          </a:xfrm>
          <a:solidFill>
            <a:srgbClr val="9C0000"/>
          </a:solidFill>
        </p:grpSpPr>
        <p:sp>
          <p:nvSpPr>
            <p:cNvPr id="7" name="矩形 6"/>
            <p:cNvSpPr/>
            <p:nvPr/>
          </p:nvSpPr>
          <p:spPr>
            <a:xfrm>
              <a:off x="0" y="772160"/>
              <a:ext cx="2509520" cy="762000"/>
            </a:xfrm>
            <a:prstGeom prst="rect">
              <a:avLst/>
            </a:prstGeom>
            <a:grpFill/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" name="等腰三角形 17"/>
            <p:cNvSpPr/>
            <p:nvPr/>
          </p:nvSpPr>
          <p:spPr>
            <a:xfrm rot="5400000">
              <a:off x="2491281" y="1039167"/>
              <a:ext cx="264463" cy="227985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9" name="标题 1"/>
          <p:cNvSpPr txBox="1"/>
          <p:nvPr/>
        </p:nvSpPr>
        <p:spPr>
          <a:xfrm>
            <a:off x="2891201" y="567484"/>
            <a:ext cx="8596786" cy="688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sz="3600" b="1">
                <a:latin typeface="微软雅黑" panose="020B0503020204020204" pitchFamily="34" charset="-122"/>
              </a:rPr>
              <a:t>2.2 关键设计：安全护栏与可信审计</a:t>
            </a:r>
            <a:endParaRPr sz="3600" b="1">
              <a:latin typeface="微软雅黑" panose="020B0503020204020204" pitchFamily="34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86360" y="1237241"/>
            <a:ext cx="23368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项目进展时间线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31" name="文本框 30"/>
          <p:cNvSpPr txBox="1"/>
          <p:nvPr/>
        </p:nvSpPr>
        <p:spPr>
          <a:xfrm>
            <a:off x="67310" y="2365592"/>
            <a:ext cx="23368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技术思路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32" name="文本框 31"/>
          <p:cNvSpPr txBox="1"/>
          <p:nvPr/>
        </p:nvSpPr>
        <p:spPr>
          <a:xfrm>
            <a:off x="86388" y="3407886"/>
            <a:ext cx="2336800" cy="564967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现有工作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  <a:p>
            <a:pPr algn="ctr"/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33" name="文本框 32"/>
          <p:cNvSpPr txBox="1"/>
          <p:nvPr/>
        </p:nvSpPr>
        <p:spPr>
          <a:xfrm>
            <a:off x="67310" y="4471164"/>
            <a:ext cx="233680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后续展望与优化方向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3" name="矩形 2"/>
          <p:cNvSpPr/>
          <p:nvPr>
            <p:custDataLst>
              <p:tags r:id="rId1"/>
            </p:custDataLst>
          </p:nvPr>
        </p:nvSpPr>
        <p:spPr>
          <a:xfrm>
            <a:off x="2842895" y="1388110"/>
            <a:ext cx="9262110" cy="420370"/>
          </a:xfrm>
          <a:prstGeom prst="rect">
            <a:avLst/>
          </a:prstGeom>
          <a:solidFill>
            <a:srgbClr val="01492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/>
          <p:cNvSpPr txBox="1"/>
          <p:nvPr/>
        </p:nvSpPr>
        <p:spPr>
          <a:xfrm>
            <a:off x="3100705" y="1388110"/>
            <a:ext cx="4123690" cy="38163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sz="2400" b="1">
                <a:solidFill>
                  <a:schemeClr val="bg1"/>
                </a:solidFill>
                <a:latin typeface="方正小标宋简体" panose="03000509000000000000" charset="-122"/>
              </a:rPr>
              <a:t>护栏 · 审计 · 最小权限</a:t>
            </a:r>
            <a:endParaRPr lang="zh-CN" altLang="en-US" sz="2400" b="1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方正小标宋简体" panose="03000509000000000000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3100705" y="2579370"/>
            <a:ext cx="9004300" cy="170751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2400"/>
              <a:t>每条指令先过输入侧意图筛查（高危关键词、敏感路径、命令注入），再由策略引擎按风险评分裁决为低/中/高三级；中风险签发一次性确认令牌，预演计划与实际执行严格一致，令牌限时且绑定会话，确认后二次复核策略。</a:t>
            </a:r>
            <a:endParaRPr sz="2400"/>
          </a:p>
        </p:txBody>
      </p:sp>
      <p:sp>
        <p:nvSpPr>
          <p:cNvPr id="9" name="文本框 8"/>
          <p:cNvSpPr txBox="1"/>
          <p:nvPr/>
        </p:nvSpPr>
        <p:spPr>
          <a:xfrm>
            <a:off x="3100705" y="2065655"/>
            <a:ext cx="3596640" cy="5137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sz="2400" b="1">
                <a:solidFill>
                  <a:srgbClr val="548235"/>
                </a:solidFill>
                <a:latin typeface="黑体" panose="02010609060101010101" charset="-122"/>
              </a:rPr>
              <a:t>双向护栏与三级风险</a:t>
            </a:r>
            <a:endParaRPr sz="2400" b="1">
              <a:solidFill>
                <a:srgbClr val="548235"/>
              </a:solidFill>
              <a:latin typeface="黑体" panose="02010609060101010101" charset="-122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3100705" y="4416425"/>
            <a:ext cx="4566920" cy="4756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sz="2400" b="1">
                <a:solidFill>
                  <a:srgbClr val="548235"/>
                </a:solidFill>
                <a:latin typeface="黑体" panose="02010609060101010101" charset="-122"/>
              </a:rPr>
              <a:t>思维链与哈希链审计</a:t>
            </a:r>
            <a:endParaRPr sz="2400" b="1">
              <a:solidFill>
                <a:srgbClr val="548235"/>
              </a:solidFill>
              <a:latin typeface="黑体" panose="02010609060101010101" charset="-122"/>
            </a:endParaRPr>
          </a:p>
        </p:txBody>
      </p:sp>
      <p:sp>
        <p:nvSpPr>
          <p:cNvPr id="34" name="文本框 33"/>
          <p:cNvSpPr txBox="1"/>
          <p:nvPr/>
        </p:nvSpPr>
        <p:spPr>
          <a:xfrm>
            <a:off x="3100705" y="4944745"/>
            <a:ext cx="8867775" cy="176212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2400"/>
              <a:t>每次请求完整记录上下文解析→意图筛查→工具选择→风险裁决→执行五步思维链，逐条写入哈希链防篡改审计日志，--verify-audit 可校验完整性；工具白名单 + 受管工作区 + 专用低权用户，杜绝任意 shell 与越权操作。</a:t>
            </a:r>
            <a:endParaRPr sz="240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 rot="5400000">
            <a:off x="-2226945" y="2227580"/>
            <a:ext cx="6858000" cy="2403475"/>
          </a:xfrm>
          <a:prstGeom prst="rect">
            <a:avLst/>
          </a:prstGeom>
          <a:solidFill>
            <a:srgbClr val="01492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C00000"/>
              </a:solidFill>
            </a:endParaRPr>
          </a:p>
        </p:txBody>
      </p:sp>
      <p:grpSp>
        <p:nvGrpSpPr>
          <p:cNvPr id="20" name="组合 19"/>
          <p:cNvGrpSpPr/>
          <p:nvPr/>
        </p:nvGrpSpPr>
        <p:grpSpPr>
          <a:xfrm>
            <a:off x="0" y="3208281"/>
            <a:ext cx="2737505" cy="762000"/>
            <a:chOff x="0" y="772160"/>
            <a:chExt cx="2737505" cy="762000"/>
          </a:xfrm>
          <a:solidFill>
            <a:srgbClr val="9C0000"/>
          </a:solidFill>
        </p:grpSpPr>
        <p:sp>
          <p:nvSpPr>
            <p:cNvPr id="7" name="矩形 6"/>
            <p:cNvSpPr/>
            <p:nvPr/>
          </p:nvSpPr>
          <p:spPr>
            <a:xfrm>
              <a:off x="0" y="772160"/>
              <a:ext cx="2509520" cy="762000"/>
            </a:xfrm>
            <a:prstGeom prst="rect">
              <a:avLst/>
            </a:prstGeom>
            <a:grpFill/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" name="等腰三角形 17"/>
            <p:cNvSpPr/>
            <p:nvPr/>
          </p:nvSpPr>
          <p:spPr>
            <a:xfrm rot="5400000">
              <a:off x="2491281" y="1039167"/>
              <a:ext cx="264463" cy="227985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9" name="标题 1"/>
          <p:cNvSpPr txBox="1"/>
          <p:nvPr/>
        </p:nvSpPr>
        <p:spPr>
          <a:xfrm>
            <a:off x="2891201" y="567484"/>
            <a:ext cx="8596786" cy="688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sz="3600" b="1">
                <a:latin typeface="微软雅黑" panose="020B0503020204020204" pitchFamily="34" charset="-122"/>
              </a:rPr>
              <a:t>3.1 现有工作</a:t>
            </a:r>
            <a:endParaRPr lang="zh-CN" altLang="en-US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86360" y="1256926"/>
            <a:ext cx="23368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项目进展时间线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67310" y="2385277"/>
            <a:ext cx="23368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技术思路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86267" y="3336364"/>
            <a:ext cx="233680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现有工作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  <a:p>
            <a:pPr algn="ctr"/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67310" y="4490849"/>
            <a:ext cx="233680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后续展望与优化方向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4" name="矩形 3"/>
          <p:cNvSpPr/>
          <p:nvPr>
            <p:custDataLst>
              <p:tags r:id="rId1"/>
            </p:custDataLst>
          </p:nvPr>
        </p:nvSpPr>
        <p:spPr>
          <a:xfrm>
            <a:off x="2891246" y="1506935"/>
            <a:ext cx="9214580" cy="658020"/>
          </a:xfrm>
          <a:prstGeom prst="rect">
            <a:avLst/>
          </a:prstGeom>
          <a:solidFill>
            <a:srgbClr val="01492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2939598" y="1506937"/>
            <a:ext cx="5536110" cy="49169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sz="3200" b="1">
                <a:solidFill>
                  <a:schemeClr val="bg1"/>
                </a:solidFill>
                <a:latin typeface="方正小标宋简体" panose="03000509000000000000" charset="-122"/>
              </a:rPr>
              <a:t>安全运维核心能力</a:t>
            </a:r>
            <a:endParaRPr sz="3200" b="1">
              <a:solidFill>
                <a:schemeClr val="bg1"/>
              </a:solidFill>
              <a:latin typeface="方正小标宋简体" panose="03000509000000000000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2891155" y="2415540"/>
            <a:ext cx="9102725" cy="428625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marL="342900" indent="-342900">
              <a:lnSpc>
                <a:spcPct val="140000"/>
              </a:lnSpc>
              <a:buFont typeface="Wingdings" panose="05000000000000000000" charset="0"/>
              <a:buChar char="ü"/>
            </a:pPr>
            <a:r>
              <a:rPr sz="2400">
                <a:latin typeface="黑体" panose="02010609060101010101" charset="-122"/>
              </a:rPr>
              <a:t>自然语言意图理解：DeepSeek 大模型 + 离线规则回退，支持多轮上下文与指代解析</a:t>
            </a:r>
            <a:endParaRPr sz="2400">
              <a:latin typeface="黑体" panose="02010609060101010101" charset="-122"/>
            </a:endParaRPr>
          </a:p>
          <a:p>
            <a:pPr marL="342900" indent="-342900">
              <a:lnSpc>
                <a:spcPct val="140000"/>
              </a:lnSpc>
              <a:buFont typeface="Wingdings" panose="05000000000000000000" charset="0"/>
              <a:buChar char="ü"/>
            </a:pPr>
            <a:r>
              <a:rPr sz="2400">
                <a:latin typeface="黑体" panose="02010609060101010101" charset="-122"/>
              </a:rPr>
              <a:t>三级风险策略 + 一次性确认令牌，低/中/高风险差异化处置，杜绝误操作</a:t>
            </a:r>
            <a:endParaRPr sz="2400">
              <a:latin typeface="黑体" panose="02010609060101010101" charset="-122"/>
            </a:endParaRPr>
          </a:p>
          <a:p>
            <a:pPr marL="342900" indent="-342900">
              <a:lnSpc>
                <a:spcPct val="140000"/>
              </a:lnSpc>
              <a:buFont typeface="Wingdings" panose="05000000000000000000" charset="0"/>
              <a:buChar char="ü"/>
            </a:pPr>
            <a:r>
              <a:rPr sz="2400">
                <a:latin typeface="黑体" panose="02010609060101010101" charset="-122"/>
              </a:rPr>
              <a:t>19+ 最小权限白名单工具：系统信息、资源指标、进程、端口、磁盘、服务、日志</a:t>
            </a:r>
            <a:endParaRPr sz="2400">
              <a:latin typeface="黑体" panose="02010609060101010101" charset="-122"/>
            </a:endParaRPr>
          </a:p>
          <a:p>
            <a:pPr marL="342900" indent="-342900">
              <a:lnSpc>
                <a:spcPct val="140000"/>
              </a:lnSpc>
              <a:buFont typeface="Wingdings" panose="05000000000000000000" charset="0"/>
              <a:buChar char="ü"/>
            </a:pPr>
            <a:r>
              <a:rPr sz="2400">
                <a:latin typeface="黑体" panose="02010609060101010101" charset="-122"/>
              </a:rPr>
              <a:t>五步思维链 + 哈希链防篡改审计，--verify-audit 校验日志完整性</a:t>
            </a:r>
            <a:endParaRPr sz="2400">
              <a:latin typeface="黑体" panose="02010609060101010101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 rot="5400000">
            <a:off x="-2226945" y="2227580"/>
            <a:ext cx="6858000" cy="2403475"/>
          </a:xfrm>
          <a:prstGeom prst="rect">
            <a:avLst/>
          </a:prstGeom>
          <a:solidFill>
            <a:srgbClr val="01492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C00000"/>
              </a:solidFill>
            </a:endParaRPr>
          </a:p>
        </p:txBody>
      </p:sp>
      <p:grpSp>
        <p:nvGrpSpPr>
          <p:cNvPr id="20" name="组合 19"/>
          <p:cNvGrpSpPr/>
          <p:nvPr/>
        </p:nvGrpSpPr>
        <p:grpSpPr>
          <a:xfrm>
            <a:off x="0" y="3208281"/>
            <a:ext cx="2737505" cy="762000"/>
            <a:chOff x="0" y="772160"/>
            <a:chExt cx="2737505" cy="762000"/>
          </a:xfrm>
          <a:solidFill>
            <a:srgbClr val="9C0000"/>
          </a:solidFill>
        </p:grpSpPr>
        <p:sp>
          <p:nvSpPr>
            <p:cNvPr id="7" name="矩形 6"/>
            <p:cNvSpPr/>
            <p:nvPr/>
          </p:nvSpPr>
          <p:spPr>
            <a:xfrm>
              <a:off x="0" y="772160"/>
              <a:ext cx="2509520" cy="762000"/>
            </a:xfrm>
            <a:prstGeom prst="rect">
              <a:avLst/>
            </a:prstGeom>
            <a:grpFill/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" name="等腰三角形 17"/>
            <p:cNvSpPr/>
            <p:nvPr/>
          </p:nvSpPr>
          <p:spPr>
            <a:xfrm rot="5400000">
              <a:off x="2491281" y="1039167"/>
              <a:ext cx="264463" cy="227985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9" name="标题 1"/>
          <p:cNvSpPr txBox="1"/>
          <p:nvPr/>
        </p:nvSpPr>
        <p:spPr>
          <a:xfrm>
            <a:off x="2891201" y="567484"/>
            <a:ext cx="8596786" cy="688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sz="3600" b="1">
                <a:latin typeface="微软雅黑" panose="020B0503020204020204" pitchFamily="34" charset="-122"/>
              </a:rPr>
              <a:t>3.1 现有工作</a:t>
            </a:r>
            <a:endParaRPr lang="zh-CN" altLang="en-US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86360" y="1256926"/>
            <a:ext cx="23368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项目进展时间线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67310" y="2385277"/>
            <a:ext cx="23368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技术思路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86267" y="3336364"/>
            <a:ext cx="233680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现有工作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  <a:p>
            <a:pPr algn="ctr"/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67310" y="4490849"/>
            <a:ext cx="233680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后续展望与优化方向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4" name="矩形 3"/>
          <p:cNvSpPr/>
          <p:nvPr>
            <p:custDataLst>
              <p:tags r:id="rId1"/>
            </p:custDataLst>
          </p:nvPr>
        </p:nvSpPr>
        <p:spPr>
          <a:xfrm>
            <a:off x="2891246" y="1506935"/>
            <a:ext cx="9214580" cy="658020"/>
          </a:xfrm>
          <a:prstGeom prst="rect">
            <a:avLst/>
          </a:prstGeom>
          <a:solidFill>
            <a:srgbClr val="01492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2939598" y="1506937"/>
            <a:ext cx="5536110" cy="49169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sz="3200" b="1">
                <a:solidFill>
                  <a:schemeClr val="bg1"/>
                </a:solidFill>
                <a:latin typeface="方正小标宋简体" panose="03000509000000000000" charset="-122"/>
              </a:rPr>
              <a:t>协议接入与双入口演示</a:t>
            </a:r>
            <a:endParaRPr sz="3200" b="1">
              <a:solidFill>
                <a:schemeClr val="bg1"/>
              </a:solidFill>
              <a:latin typeface="方正小标宋简体" panose="03000509000000000000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2939415" y="2416810"/>
            <a:ext cx="9030335" cy="433832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marL="342900" indent="-342900">
              <a:lnSpc>
                <a:spcPct val="140000"/>
              </a:lnSpc>
              <a:buFont typeface="Wingdings" panose="05000000000000000000" charset="0"/>
              <a:buChar char="Ø"/>
            </a:pPr>
            <a:r>
              <a:rPr sz="2400">
                <a:latin typeface="黑体" panose="02010609060101010101" charset="-122"/>
              </a:rPr>
              <a:t>标准 MCP stdio 服务端：JSON-RPC 2.0，含 initialize 版本协商 / tools/list / tools/call / ping</a:t>
            </a:r>
            <a:endParaRPr sz="2400">
              <a:latin typeface="黑体" panose="02010609060101010101" charset="-122"/>
            </a:endParaRPr>
          </a:p>
          <a:p>
            <a:pPr marL="342900" indent="-342900">
              <a:lnSpc>
                <a:spcPct val="140000"/>
              </a:lnSpc>
              <a:buFont typeface="Wingdings" panose="05000000000000000000" charset="0"/>
              <a:buChar char="Ø"/>
            </a:pPr>
            <a:r>
              <a:rPr sz="2400">
                <a:latin typeface="黑体" panose="02010609060101010101" charset="-122"/>
              </a:rPr>
              <a:t>每个工具带 inputSchema 与安全注解，MCP 契约测试覆盖 schema、错误码、参数校验</a:t>
            </a:r>
            <a:endParaRPr sz="2400">
              <a:latin typeface="黑体" panose="02010609060101010101" charset="-122"/>
            </a:endParaRPr>
          </a:p>
          <a:p>
            <a:pPr marL="342900" indent="-342900">
              <a:lnSpc>
                <a:spcPct val="140000"/>
              </a:lnSpc>
              <a:buFont typeface="Wingdings" panose="05000000000000000000" charset="0"/>
              <a:buChar char="Ø"/>
            </a:pPr>
            <a:r>
              <a:rPr sz="2400">
                <a:latin typeface="黑体" panose="02010609060101010101" charset="-122"/>
              </a:rPr>
              <a:t>CLI + Web 双入口，Web 按会话隔离上下文、慢请求互不阻塞、一键确认中风险</a:t>
            </a:r>
            <a:endParaRPr sz="2400">
              <a:latin typeface="黑体" panose="02010609060101010101" charset="-122"/>
            </a:endParaRPr>
          </a:p>
          <a:p>
            <a:pPr marL="342900" indent="-342900">
              <a:lnSpc>
                <a:spcPct val="140000"/>
              </a:lnSpc>
              <a:buFont typeface="Wingdings" panose="05000000000000000000" charset="0"/>
              <a:buChar char="Ø"/>
            </a:pPr>
            <a:r>
              <a:rPr sz="2400">
                <a:latin typeface="黑体" panose="02010609060101010101" charset="-122"/>
              </a:rPr>
              <a:t>服务 start/stop/restart 在麒麟/Linux 真实执行 systemctl，受管文件写前快照可回滚</a:t>
            </a:r>
            <a:endParaRPr sz="2400">
              <a:latin typeface="黑体" panose="02010609060101010101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 rot="5400000">
            <a:off x="-2226945" y="2227580"/>
            <a:ext cx="6858000" cy="2403475"/>
          </a:xfrm>
          <a:prstGeom prst="rect">
            <a:avLst/>
          </a:prstGeom>
          <a:solidFill>
            <a:srgbClr val="01492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C00000"/>
              </a:solidFill>
            </a:endParaRPr>
          </a:p>
        </p:txBody>
      </p:sp>
      <p:grpSp>
        <p:nvGrpSpPr>
          <p:cNvPr id="20" name="组合 19"/>
          <p:cNvGrpSpPr/>
          <p:nvPr/>
        </p:nvGrpSpPr>
        <p:grpSpPr>
          <a:xfrm>
            <a:off x="-113665" y="4690371"/>
            <a:ext cx="2737505" cy="762000"/>
            <a:chOff x="0" y="772160"/>
            <a:chExt cx="2737505" cy="762000"/>
          </a:xfrm>
          <a:solidFill>
            <a:srgbClr val="9C0000"/>
          </a:solidFill>
        </p:grpSpPr>
        <p:sp>
          <p:nvSpPr>
            <p:cNvPr id="7" name="矩形 6"/>
            <p:cNvSpPr/>
            <p:nvPr/>
          </p:nvSpPr>
          <p:spPr>
            <a:xfrm>
              <a:off x="0" y="772160"/>
              <a:ext cx="2509520" cy="762000"/>
            </a:xfrm>
            <a:prstGeom prst="rect">
              <a:avLst/>
            </a:prstGeom>
            <a:grpFill/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" name="等腰三角形 17"/>
            <p:cNvSpPr/>
            <p:nvPr/>
          </p:nvSpPr>
          <p:spPr>
            <a:xfrm rot="5400000">
              <a:off x="2491281" y="1039167"/>
              <a:ext cx="264463" cy="227985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9" name="标题 1"/>
          <p:cNvSpPr txBox="1"/>
          <p:nvPr/>
        </p:nvSpPr>
        <p:spPr>
          <a:xfrm>
            <a:off x="2891201" y="567484"/>
            <a:ext cx="8596786" cy="688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4.1</a:t>
            </a:r>
            <a:r>
              <a:rPr lang="zh-CN" alt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后续展望与优化方向</a:t>
            </a:r>
            <a:endParaRPr lang="zh-CN" altLang="en-US" sz="3600" b="1" dirty="0"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86360" y="1388371"/>
            <a:ext cx="23368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项目进展时间线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67310" y="2516722"/>
            <a:ext cx="23368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技术思路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86360" y="3362498"/>
            <a:ext cx="23368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现有</a:t>
            </a:r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Arial" panose="020B0604020202020204" pitchFamily="34" charset="0"/>
              </a:rPr>
              <a:t>工作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86360" y="4622294"/>
            <a:ext cx="233680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后续展望与优化方向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2849880" y="1438275"/>
            <a:ext cx="9194800" cy="52616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342900" indent="-342900">
              <a:lnSpc>
                <a:spcPct val="140000"/>
              </a:lnSpc>
              <a:buFont typeface="Wingdings" panose="05000000000000000000" charset="0"/>
              <a:buChar char="u"/>
            </a:pPr>
            <a:r>
              <a:rPr sz="2200"/>
              <a:t>完成麒麟实机验证与最小权限执行落地：当前核心链路已在开发机与 Ubuntu CI 完整跑通，</a:t>
            </a:r>
            <a:endParaRPr sz="2200"/>
          </a:p>
          <a:p>
            <a:pPr marL="342900" indent="-342900">
              <a:lnSpc>
                <a:spcPct val="140000"/>
              </a:lnSpc>
              <a:buFont typeface="Wingdings" panose="05000000000000000000" charset="0"/>
              <a:buChar char="u"/>
            </a:pPr>
            <a:endParaRPr sz="2200"/>
          </a:p>
          <a:p>
            <a:pPr marL="342900" indent="-342900">
              <a:lnSpc>
                <a:spcPct val="140000"/>
              </a:lnSpc>
              <a:buFont typeface="Wingdings" panose="05000000000000000000" charset="0"/>
              <a:buChar char="u"/>
            </a:pPr>
            <a:r>
              <a:rPr sz="2200"/>
              <a:t>下一步将在真实麒麟操作系统上执行 K01–K31 验证清单，覆盖 systemctl / journalctl / ss / rpm 等命令，</a:t>
            </a:r>
            <a:endParaRPr sz="2200"/>
          </a:p>
          <a:p>
            <a:pPr indent="0">
              <a:lnSpc>
                <a:spcPct val="140000"/>
              </a:lnSpc>
              <a:buFont typeface="Wingdings" panose="05000000000000000000" charset="0"/>
              <a:buNone/>
            </a:pPr>
            <a:endParaRPr sz="2200"/>
          </a:p>
          <a:p>
            <a:pPr marL="342900" indent="-342900">
              <a:lnSpc>
                <a:spcPct val="140000"/>
              </a:lnSpc>
              <a:buFont typeface="Wingdings" panose="05000000000000000000" charset="0"/>
              <a:buChar char="u"/>
            </a:pPr>
            <a:r>
              <a:rPr sz="2200"/>
              <a:t>并落地专用低权用户 + sudo 白名单执行器，收敛 Agent 的实际操作权限边界。</a:t>
            </a:r>
            <a:endParaRPr sz="2200"/>
          </a:p>
          <a:p>
            <a:pPr marL="342900" indent="-342900">
              <a:lnSpc>
                <a:spcPct val="140000"/>
              </a:lnSpc>
              <a:buFont typeface="Wingdings" panose="05000000000000000000" charset="0"/>
              <a:buChar char="u"/>
            </a:pPr>
            <a:endParaRPr sz="2200"/>
          </a:p>
          <a:p>
            <a:pPr marL="342900" indent="-342900">
              <a:lnSpc>
                <a:spcPct val="140000"/>
              </a:lnSpc>
              <a:buFont typeface="Wingdings" panose="05000000000000000000" charset="0"/>
              <a:buChar char="u"/>
            </a:pPr>
            <a:r>
              <a:rPr sz="2200"/>
              <a:t>目标：形成可复现的麒麟实机验证报告，证明安全护栏与运维能力在国产环境下稳定可用。</a:t>
            </a:r>
            <a:endParaRPr sz="22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 rot="5400000">
            <a:off x="-2226945" y="2227580"/>
            <a:ext cx="6858000" cy="2403475"/>
          </a:xfrm>
          <a:prstGeom prst="rect">
            <a:avLst/>
          </a:prstGeom>
          <a:solidFill>
            <a:srgbClr val="01492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C00000"/>
              </a:solidFill>
            </a:endParaRPr>
          </a:p>
        </p:txBody>
      </p:sp>
      <p:grpSp>
        <p:nvGrpSpPr>
          <p:cNvPr id="20" name="组合 19"/>
          <p:cNvGrpSpPr/>
          <p:nvPr/>
        </p:nvGrpSpPr>
        <p:grpSpPr>
          <a:xfrm>
            <a:off x="-113665" y="4690371"/>
            <a:ext cx="2737505" cy="762000"/>
            <a:chOff x="0" y="772160"/>
            <a:chExt cx="2737505" cy="762000"/>
          </a:xfrm>
          <a:solidFill>
            <a:srgbClr val="9C0000"/>
          </a:solidFill>
        </p:grpSpPr>
        <p:sp>
          <p:nvSpPr>
            <p:cNvPr id="7" name="矩形 6"/>
            <p:cNvSpPr/>
            <p:nvPr/>
          </p:nvSpPr>
          <p:spPr>
            <a:xfrm>
              <a:off x="0" y="772160"/>
              <a:ext cx="2509520" cy="762000"/>
            </a:xfrm>
            <a:prstGeom prst="rect">
              <a:avLst/>
            </a:prstGeom>
            <a:grpFill/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" name="等腰三角形 17"/>
            <p:cNvSpPr/>
            <p:nvPr/>
          </p:nvSpPr>
          <p:spPr>
            <a:xfrm rot="5400000">
              <a:off x="2491281" y="1039167"/>
              <a:ext cx="264463" cy="227985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9" name="标题 1"/>
          <p:cNvSpPr txBox="1"/>
          <p:nvPr/>
        </p:nvSpPr>
        <p:spPr>
          <a:xfrm>
            <a:off x="2891201" y="567484"/>
            <a:ext cx="8596786" cy="688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4.1</a:t>
            </a:r>
            <a:r>
              <a:rPr lang="zh-CN" alt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后续展望与优化方向</a:t>
            </a:r>
            <a:endParaRPr lang="zh-CN" altLang="en-US" sz="3600" b="1" dirty="0"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86360" y="1388371"/>
            <a:ext cx="23368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项目进展时间线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67310" y="2516722"/>
            <a:ext cx="23368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技术思路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86360" y="3362498"/>
            <a:ext cx="23368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现有</a:t>
            </a:r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Arial" panose="020B0604020202020204" pitchFamily="34" charset="0"/>
              </a:rPr>
              <a:t>工作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86360" y="4622294"/>
            <a:ext cx="233680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后续展望与优化方向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2813050" y="1670050"/>
            <a:ext cx="9228455" cy="45332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charset="0"/>
              <a:buChar char="ü"/>
            </a:pPr>
            <a:r>
              <a:rPr sz="2200"/>
              <a:t>扩展运维工具与故障自愈能力：当前已覆盖系统感知、指标采集、服务与文件管理等 19+ 工具。</a:t>
            </a:r>
            <a:endParaRPr sz="2200"/>
          </a:p>
          <a:p>
            <a:pPr marL="342900" indent="-342900">
              <a:lnSpc>
                <a:spcPct val="150000"/>
              </a:lnSpc>
              <a:buFont typeface="Wingdings" panose="05000000000000000000" charset="0"/>
              <a:buChar char="ü"/>
            </a:pPr>
            <a:endParaRPr sz="2200"/>
          </a:p>
          <a:p>
            <a:pPr marL="342900" indent="-342900">
              <a:lnSpc>
                <a:spcPct val="150000"/>
              </a:lnSpc>
              <a:buFont typeface="Wingdings" panose="05000000000000000000" charset="0"/>
              <a:buChar char="ü"/>
            </a:pPr>
            <a:r>
              <a:rPr sz="2200"/>
              <a:t>下一步将新增日志根因分析、资源阈值告警、常见故障一键诊断与受控自愈预案，形成“感知 → 诊断 → 建议 → 确认执行”的闭环。</a:t>
            </a:r>
            <a:endParaRPr sz="2200"/>
          </a:p>
          <a:p>
            <a:pPr marL="342900" indent="-342900">
              <a:lnSpc>
                <a:spcPct val="150000"/>
              </a:lnSpc>
              <a:buFont typeface="Wingdings" panose="05000000000000000000" charset="0"/>
              <a:buChar char="ü"/>
            </a:pPr>
            <a:endParaRPr sz="2200"/>
          </a:p>
          <a:p>
            <a:pPr marL="342900" indent="-342900">
              <a:lnSpc>
                <a:spcPct val="150000"/>
              </a:lnSpc>
              <a:buFont typeface="Wingdings" panose="05000000000000000000" charset="0"/>
              <a:buChar char="ü"/>
            </a:pPr>
            <a:r>
              <a:rPr sz="2200"/>
              <a:t>并对权限不足、命令缺失、服务异常等情况建立稳健的降级与回滚策略。</a:t>
            </a:r>
            <a:endParaRPr sz="22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 rot="5400000">
            <a:off x="-2226945" y="2227580"/>
            <a:ext cx="6858000" cy="2403475"/>
          </a:xfrm>
          <a:prstGeom prst="rect">
            <a:avLst/>
          </a:prstGeom>
          <a:solidFill>
            <a:srgbClr val="01492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C00000"/>
              </a:solidFill>
            </a:endParaRPr>
          </a:p>
        </p:txBody>
      </p:sp>
      <p:grpSp>
        <p:nvGrpSpPr>
          <p:cNvPr id="20" name="组合 19"/>
          <p:cNvGrpSpPr/>
          <p:nvPr/>
        </p:nvGrpSpPr>
        <p:grpSpPr>
          <a:xfrm>
            <a:off x="-113665" y="4690371"/>
            <a:ext cx="2737505" cy="762000"/>
            <a:chOff x="0" y="772160"/>
            <a:chExt cx="2737505" cy="762000"/>
          </a:xfrm>
          <a:solidFill>
            <a:srgbClr val="9C0000"/>
          </a:solidFill>
        </p:grpSpPr>
        <p:sp>
          <p:nvSpPr>
            <p:cNvPr id="7" name="矩形 6"/>
            <p:cNvSpPr/>
            <p:nvPr/>
          </p:nvSpPr>
          <p:spPr>
            <a:xfrm>
              <a:off x="0" y="772160"/>
              <a:ext cx="2509520" cy="762000"/>
            </a:xfrm>
            <a:prstGeom prst="rect">
              <a:avLst/>
            </a:prstGeom>
            <a:grpFill/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" name="等腰三角形 17"/>
            <p:cNvSpPr/>
            <p:nvPr/>
          </p:nvSpPr>
          <p:spPr>
            <a:xfrm rot="5400000">
              <a:off x="2491281" y="1039167"/>
              <a:ext cx="264463" cy="227985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9" name="标题 1"/>
          <p:cNvSpPr txBox="1"/>
          <p:nvPr/>
        </p:nvSpPr>
        <p:spPr>
          <a:xfrm>
            <a:off x="2891201" y="567484"/>
            <a:ext cx="8596786" cy="688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4.1</a:t>
            </a:r>
            <a:r>
              <a:rPr lang="zh-CN" alt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后续展望与优化方向</a:t>
            </a:r>
            <a:endParaRPr lang="zh-CN" altLang="en-US" sz="3600" b="1" dirty="0"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86360" y="1388371"/>
            <a:ext cx="23368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项目进展时间线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67310" y="2516722"/>
            <a:ext cx="23368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技术思路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86360" y="3362498"/>
            <a:ext cx="23368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现有</a:t>
            </a:r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Arial" panose="020B0604020202020204" pitchFamily="34" charset="0"/>
              </a:rPr>
              <a:t>工作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86360" y="4622294"/>
            <a:ext cx="233680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后续展望与优化方向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3087370" y="1351280"/>
            <a:ext cx="8989060" cy="48514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0">
              <a:lnSpc>
                <a:spcPct val="160000"/>
              </a:lnSpc>
              <a:buFont typeface="Wingdings" panose="05000000000000000000" charset="0"/>
              <a:buNone/>
            </a:pPr>
            <a:r>
              <a:rPr sz="2400"/>
              <a:t>面向运维的多轮对话与可视化增强：</a:t>
            </a:r>
            <a:endParaRPr sz="2400"/>
          </a:p>
          <a:p>
            <a:pPr marL="342900" indent="-342900">
              <a:lnSpc>
                <a:spcPct val="160000"/>
              </a:lnSpc>
              <a:buFont typeface="Wingdings" panose="05000000000000000000" charset="0"/>
              <a:buChar char="u"/>
            </a:pPr>
            <a:endParaRPr sz="2000"/>
          </a:p>
          <a:p>
            <a:pPr marL="457200" indent="-457200">
              <a:lnSpc>
                <a:spcPct val="170000"/>
              </a:lnSpc>
              <a:buFont typeface="+mj-lt"/>
              <a:buAutoNum type="arabicPeriod"/>
            </a:pPr>
            <a:r>
              <a:rPr sz="2200"/>
              <a:t>在现有 CLI / Web 双入口基础上，强化多轮对话运维体验，支持基于上下文的连续追问、参数追问与批量任务编排。</a:t>
            </a:r>
            <a:endParaRPr sz="2200"/>
          </a:p>
          <a:p>
            <a:pPr marL="457200" indent="-457200">
              <a:lnSpc>
                <a:spcPct val="170000"/>
              </a:lnSpc>
              <a:buFont typeface="+mj-lt"/>
              <a:buAutoNum type="arabicPeriod"/>
            </a:pPr>
            <a:endParaRPr sz="2200"/>
          </a:p>
          <a:p>
            <a:pPr marL="457200" indent="-457200">
              <a:lnSpc>
                <a:spcPct val="170000"/>
              </a:lnSpc>
              <a:buFont typeface="+mj-lt"/>
              <a:buAutoNum type="arabicPeriod"/>
            </a:pPr>
            <a:r>
              <a:rPr sz="2200"/>
              <a:t>同时增强 Web 工作台：风险态势看板、审计时间线检索、思维链可视化回放</a:t>
            </a:r>
            <a:r>
              <a:rPr lang="zh-CN" sz="2200"/>
              <a:t>，</a:t>
            </a:r>
            <a:r>
              <a:rPr sz="2200"/>
              <a:t>把 SafeOps 从“命令式运维工具”升级为“可解释、可信赖的智能运维平台”。</a:t>
            </a:r>
            <a:endParaRPr sz="22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 rot="10800000">
            <a:off x="0" y="-7"/>
            <a:ext cx="12192000" cy="2426618"/>
          </a:xfrm>
          <a:prstGeom prst="rect">
            <a:avLst/>
          </a:prstGeom>
          <a:solidFill>
            <a:srgbClr val="01492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/>
          <p:cNvSpPr/>
          <p:nvPr/>
        </p:nvSpPr>
        <p:spPr>
          <a:xfrm rot="10800000">
            <a:off x="0" y="2493941"/>
            <a:ext cx="12192000" cy="70698"/>
          </a:xfrm>
          <a:prstGeom prst="rect">
            <a:avLst/>
          </a:prstGeom>
          <a:solidFill>
            <a:srgbClr val="01492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3536239" y="3909427"/>
            <a:ext cx="5119523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sz="6600" b="1">
                <a:solidFill>
                  <a:srgbClr val="014924"/>
                </a:solidFill>
                <a:latin typeface="微软雅黑" panose="020B0503020204020204" pitchFamily="34" charset="-122"/>
              </a:rPr>
              <a:t>感谢聆听</a:t>
            </a:r>
            <a:endParaRPr sz="6600" b="1">
              <a:solidFill>
                <a:srgbClr val="014924"/>
              </a:solidFill>
              <a:latin typeface="微软雅黑" panose="020B0503020204020204" pitchFamily="34" charset="-122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323851" y="-24013"/>
            <a:ext cx="11544299" cy="3154706"/>
          </a:xfrm>
          <a:prstGeom prst="rect">
            <a:avLst/>
          </a:prstGeom>
        </p:spPr>
        <p:txBody>
          <a:bodyPr wrap="square" lIns="91436" tIns="45718" rIns="91436" bIns="45718">
            <a:spAutoFit/>
          </a:bodyPr>
          <a:lstStyle>
            <a:defPPr>
              <a:defRPr lang="zh-CN"/>
            </a:defPPr>
            <a:lvl1pPr algn="ctr">
              <a:defRPr sz="105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dist"/>
            <a:r>
              <a:rPr sz="19900" b="1"/>
              <a:t>THANKS</a:t>
            </a:r>
            <a:endParaRPr lang="zh-CN" altLang="en-US" sz="19900" b="1" dirty="0">
              <a:solidFill>
                <a:schemeClr val="bg1">
                  <a:alpha val="10000"/>
                </a:schemeClr>
              </a:solidFill>
            </a:endParaRPr>
          </a:p>
        </p:txBody>
      </p:sp>
      <p:grpSp>
        <p:nvGrpSpPr>
          <p:cNvPr id="7" name="组合 6"/>
          <p:cNvGrpSpPr/>
          <p:nvPr/>
        </p:nvGrpSpPr>
        <p:grpSpPr>
          <a:xfrm>
            <a:off x="4876405" y="1196335"/>
            <a:ext cx="2439190" cy="2439192"/>
            <a:chOff x="5007734" y="902247"/>
            <a:chExt cx="2543685" cy="2543686"/>
          </a:xfrm>
        </p:grpSpPr>
        <p:sp>
          <p:nvSpPr>
            <p:cNvPr id="8" name="椭圆 7"/>
            <p:cNvSpPr/>
            <p:nvPr/>
          </p:nvSpPr>
          <p:spPr>
            <a:xfrm>
              <a:off x="5007734" y="902247"/>
              <a:ext cx="2543685" cy="2543686"/>
            </a:xfrm>
            <a:prstGeom prst="ellipse">
              <a:avLst/>
            </a:prstGeom>
            <a:gradFill flip="none" rotWithShape="1">
              <a:gsLst>
                <a:gs pos="0">
                  <a:schemeClr val="bg1"/>
                </a:gs>
                <a:gs pos="100000">
                  <a:srgbClr val="E8E8E8"/>
                </a:gs>
              </a:gsLst>
              <a:lin ang="5400000" scaled="1"/>
              <a:tileRect/>
            </a:gradFill>
            <a:ln>
              <a:noFill/>
            </a:ln>
            <a:effectLst>
              <a:outerShdw blurRad="139700" dist="38100" dir="5400000" algn="t" rotWithShape="0">
                <a:prstClr val="black">
                  <a:alpha val="19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椭圆 8"/>
            <p:cNvSpPr/>
            <p:nvPr/>
          </p:nvSpPr>
          <p:spPr>
            <a:xfrm rot="10800000">
              <a:off x="5160137" y="1054647"/>
              <a:ext cx="2213120" cy="2213120"/>
            </a:xfrm>
            <a:prstGeom prst="ellipse">
              <a:avLst/>
            </a:prstGeom>
            <a:gradFill flip="none" rotWithShape="1">
              <a:gsLst>
                <a:gs pos="0">
                  <a:schemeClr val="bg1"/>
                </a:gs>
                <a:gs pos="100000">
                  <a:srgbClr val="E8E8E8"/>
                </a:gs>
              </a:gsLst>
              <a:lin ang="5400000" scaled="1"/>
              <a:tileRect/>
            </a:gradFill>
            <a:ln>
              <a:noFill/>
            </a:ln>
            <a:effectLst>
              <a:innerShdw blurRad="88900">
                <a:prstClr val="black">
                  <a:alpha val="16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pic>
        <p:nvPicPr>
          <p:cNvPr id="21" name="图片 20"/>
          <p:cNvPicPr>
            <a:picLocks noChangeAspect="1"/>
          </p:cNvPicPr>
          <p:nvPr/>
        </p:nvPicPr>
        <p:blipFill>
          <a:blip r:embed="rId1" cstate="print">
            <a:extLst>
              <a:ext uri="{BEBA8EAE-BF5A-486C-A8C5-ECC9F3942E4B}">
                <a14:imgProps xmlns:a14="http://schemas.microsoft.com/office/drawing/2010/main">
                  <a14:imgLayer r:embed="rId2">
                    <a14:imgEffect>
                      <a14:backgroundRemoval t="0" b="100000" l="0" r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7804" y="1438170"/>
            <a:ext cx="1936392" cy="19308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ags/tag1.xml><?xml version="1.0" encoding="utf-8"?>
<p:tagLst xmlns:p="http://schemas.openxmlformats.org/presentationml/2006/main">
  <p:tag name="KSO_WM_DIAGRAM_VIRTUALLY_FRAME" val="{&quot;height&quot;:405.0216535433071,&quot;left&quot;:209.74850393700785,&quot;top&quot;:71.7,&quot;width&quot;:430.2514960629922}"/>
</p:tagLst>
</file>

<file path=ppt/tags/tag2.xml><?xml version="1.0" encoding="utf-8"?>
<p:tagLst xmlns:p="http://schemas.openxmlformats.org/presentationml/2006/main">
  <p:tag name="KSO_WM_DIAGRAM_VIRTUALLY_FRAME" val="{&quot;height&quot;:405.0216535433071,&quot;left&quot;:209.74850393700785,&quot;top&quot;:71.7,&quot;width&quot;:430.2514960629922}"/>
</p:tagLst>
</file>

<file path=ppt/tags/tag3.xml><?xml version="1.0" encoding="utf-8"?>
<p:tagLst xmlns:p="http://schemas.openxmlformats.org/presentationml/2006/main">
  <p:tag name="KSO_WM_DIAGRAM_VIRTUALLY_FRAME" val="{&quot;height&quot;:405.0216535433071,&quot;left&quot;:209.74850393700785,&quot;top&quot;:71.7,&quot;width&quot;:430.2514960629922}"/>
</p:tagLst>
</file>

<file path=ppt/tags/tag4.xml><?xml version="1.0" encoding="utf-8"?>
<p:tagLst xmlns:p="http://schemas.openxmlformats.org/presentationml/2006/main">
  <p:tag name="KSO_WM_DIAGRAM_VIRTUALLY_FRAME" val="{&quot;height&quot;:405.0216535433071,&quot;left&quot;:209.74850393700785,&quot;top&quot;:71.7,&quot;width&quot;:430.2514960629922}"/>
</p:tagLst>
</file>

<file path=ppt/tags/tag5.xml><?xml version="1.0" encoding="utf-8"?>
<p:tagLst xmlns:p="http://schemas.openxmlformats.org/presentationml/2006/main">
  <p:tag name="KSO_WM_DIAGRAM_VIRTUALLY_FRAME" val="{&quot;height&quot;:405.0216535433071,&quot;left&quot;:209.74850393700785,&quot;top&quot;:71.7,&quot;width&quot;:430.2514960629922}"/>
</p:tagLst>
</file>

<file path=ppt/tags/tag6.xml><?xml version="1.0" encoding="utf-8"?>
<p:tagLst xmlns:p="http://schemas.openxmlformats.org/presentationml/2006/main">
  <p:tag name="KSO_WM_DIAGRAM_VIRTUALLY_FRAME" val="{&quot;height&quot;:405.0216535433071,&quot;left&quot;:209.74850393700785,&quot;top&quot;:71.7,&quot;width&quot;:430.2514960629922}"/>
</p:tagLst>
</file>

<file path=ppt/tags/tag7.xml><?xml version="1.0" encoding="utf-8"?>
<p:tagLst xmlns:p="http://schemas.openxmlformats.org/presentationml/2006/main">
  <p:tag name="KSO_WM_DIAGRAM_VIRTUALLY_FRAME" val="{&quot;height&quot;:405.0216535433071,&quot;left&quot;:209.74850393700785,&quot;top&quot;:71.7,&quot;width&quot;:430.2514960629922}"/>
</p:tagLst>
</file>

<file path=ppt/tags/tag8.xml><?xml version="1.0" encoding="utf-8"?>
<p:tagLst xmlns:p="http://schemas.openxmlformats.org/presentationml/2006/main">
  <p:tag name="KSO_WM_DIAGRAM_VIRTUALLY_FRAME" val="{&quot;height&quot;:405.0216535433071,&quot;left&quot;:209.74850393700785,&quot;top&quot;:71.7,&quot;width&quot;:430.2514960629922}"/>
</p:tagLst>
</file>

<file path=ppt/tags/tag9.xml><?xml version="1.0" encoding="utf-8"?>
<p:tagLst xmlns:p="http://schemas.openxmlformats.org/presentationml/2006/main">
  <p:tag name="KSO_WM_DIAGRAM_VIRTUALLY_FRAME" val="{&quot;height&quot;:405.0216535433071,&quot;left&quot;:209.74850393700785,&quot;top&quot;:71.7,&quot;width&quot;:430.2514960629922}"/>
</p:tagLst>
</file>

<file path=ppt/tags/tag10.xml><?xml version="1.0" encoding="utf-8"?>
<p:tagLst xmlns:p="http://schemas.openxmlformats.org/presentationml/2006/main">
  <p:tag name="KSO_WM_DIAGRAM_VIRTUALLY_FRAME" val="{&quot;height&quot;:405.0216535433071,&quot;left&quot;:209.74850393700785,&quot;top&quot;:71.7,&quot;width&quot;:430.2514960629922}"/>
</p:tagLst>
</file>

<file path=ppt/tags/tag11.xml><?xml version="1.0" encoding="utf-8"?>
<p:tagLst xmlns:p="http://schemas.openxmlformats.org/presentationml/2006/main">
  <p:tag name="KSO_WM_DIAGRAM_VIRTUALLY_FRAME" val="{&quot;height&quot;:265.50811023622043,&quot;left&quot;:57.77881889763779,&quot;top&quot;:123.07968503937009,&quot;width&quot;:509.24992125984255}"/>
</p:tagLst>
</file>

<file path=ppt/tags/tag12.xml><?xml version="1.0" encoding="utf-8"?>
<p:tagLst xmlns:p="http://schemas.openxmlformats.org/presentationml/2006/main">
  <p:tag name="KSO_WM_DIAGRAM_VIRTUALLY_FRAME" val="{&quot;height&quot;:265.50811023622043,&quot;left&quot;:57.77881889763779,&quot;top&quot;:123.07968503937009,&quot;width&quot;:509.24992125984255}"/>
</p:tagLst>
</file>

<file path=ppt/tags/tag13.xml><?xml version="1.0" encoding="utf-8"?>
<p:tagLst xmlns:p="http://schemas.openxmlformats.org/presentationml/2006/main">
  <p:tag name="KSO_WM_DIAGRAM_VIRTUALLY_FRAME" val="{&quot;height&quot;:265.50811023622043,&quot;left&quot;:57.77881889763779,&quot;top&quot;:123.07968503937009,&quot;width&quot;:509.24992125984255}"/>
</p:tagLst>
</file>

<file path=ppt/tags/tag14.xml><?xml version="1.0" encoding="utf-8"?>
<p:tagLst xmlns:p="http://schemas.openxmlformats.org/presentationml/2006/main">
  <p:tag name="KSO_WM_DIAGRAM_VIRTUALLY_FRAME" val="{&quot;height&quot;:265.50811023622043,&quot;left&quot;:57.77881889763779,&quot;top&quot;:123.07968503937009,&quot;width&quot;:509.24992125984255}"/>
</p:tagLst>
</file>

<file path=ppt/tags/tag15.xml><?xml version="1.0" encoding="utf-8"?>
<p:tagLst xmlns:p="http://schemas.openxmlformats.org/presentationml/2006/main">
  <p:tag name="KSO_WM_DIAGRAM_VIRTUALLY_FRAME" val="{&quot;height&quot;:265.50811023622043,&quot;left&quot;:57.77881889763779,&quot;top&quot;:123.07968503937009,&quot;width&quot;:509.24992125984255}"/>
</p:tagLst>
</file>

<file path=ppt/tags/tag16.xml><?xml version="1.0" encoding="utf-8"?>
<p:tagLst xmlns:p="http://schemas.openxmlformats.org/presentationml/2006/main">
  <p:tag name="KSO_WM_DIAGRAM_VIRTUALLY_FRAME" val="{&quot;height&quot;:265.50811023622043,&quot;left&quot;:57.77881889763779,&quot;top&quot;:123.07968503937009,&quot;width&quot;:509.24992125984255}"/>
</p:tagLst>
</file>

<file path=ppt/tags/tag17.xml><?xml version="1.0" encoding="utf-8"?>
<p:tagLst xmlns:p="http://schemas.openxmlformats.org/presentationml/2006/main">
  <p:tag name="KSO_WM_DIAGRAM_VIRTUALLY_FRAME" val="{&quot;height&quot;:265.50811023622043,&quot;left&quot;:57.77881889763779,&quot;top&quot;:123.07968503937009,&quot;width&quot;:509.24992125984255}"/>
</p:tagLst>
</file>

<file path=ppt/tags/tag18.xml><?xml version="1.0" encoding="utf-8"?>
<p:tagLst xmlns:p="http://schemas.openxmlformats.org/presentationml/2006/main">
  <p:tag name="KSO_WM_DIAGRAM_VIRTUALLY_FRAME" val="{&quot;height&quot;:265.50811023622043,&quot;left&quot;:57.77881889763779,&quot;top&quot;:123.07968503937009,&quot;width&quot;:509.24992125984255}"/>
</p:tagLst>
</file>

<file path=ppt/tags/tag19.xml><?xml version="1.0" encoding="utf-8"?>
<p:tagLst xmlns:p="http://schemas.openxmlformats.org/presentationml/2006/main">
  <p:tag name="KSO_WM_DIAGRAM_VIRTUALLY_FRAME" val="{&quot;height&quot;:265.50811023622043,&quot;left&quot;:57.77881889763779,&quot;top&quot;:123.07968503937009,&quot;width&quot;:509.24992125984255}"/>
</p:tagLst>
</file>

<file path=ppt/tags/tag20.xml><?xml version="1.0" encoding="utf-8"?>
<p:tagLst xmlns:p="http://schemas.openxmlformats.org/presentationml/2006/main">
  <p:tag name="KSO_WM_DIAGRAM_VIRTUALLY_FRAME" val="{&quot;height&quot;:265.50811023622043,&quot;left&quot;:57.77881889763779,&quot;top&quot;:123.07968503937009,&quot;width&quot;:509.24992125984255}"/>
</p:tagLst>
</file>

<file path=ppt/tags/tag21.xml><?xml version="1.0" encoding="utf-8"?>
<p:tagLst xmlns:p="http://schemas.openxmlformats.org/presentationml/2006/main">
  <p:tag name="KSO_WM_DIAGRAM_VIRTUALLY_FRAME" val="{&quot;height&quot;:265.50811023622043,&quot;left&quot;:57.77881889763779,&quot;top&quot;:123.07968503937009,&quot;width&quot;:509.24992125984255}"/>
</p:tagLst>
</file>

<file path=ppt/tags/tag22.xml><?xml version="1.0" encoding="utf-8"?>
<p:tagLst xmlns:p="http://schemas.openxmlformats.org/presentationml/2006/main">
  <p:tag name="KSO_WM_DIAGRAM_VIRTUALLY_FRAME" val="{&quot;height&quot;:265.50811023622043,&quot;left&quot;:57.77881889763779,&quot;top&quot;:123.07968503937009,&quot;width&quot;:509.24992125984255}"/>
</p:tagLst>
</file>

<file path=ppt/tags/tag23.xml><?xml version="1.0" encoding="utf-8"?>
<p:tagLst xmlns:p="http://schemas.openxmlformats.org/presentationml/2006/main">
  <p:tag name="KSO_WM_DIAGRAM_VIRTUALLY_FRAME" val="{&quot;height&quot;:265.50811023622043,&quot;left&quot;:57.77881889763779,&quot;top&quot;:123.07968503937009,&quot;width&quot;:509.24992125984255}"/>
</p:tagLst>
</file>

<file path=ppt/tags/tag24.xml><?xml version="1.0" encoding="utf-8"?>
<p:tagLst xmlns:p="http://schemas.openxmlformats.org/presentationml/2006/main">
  <p:tag name="COMMONDATA" val="eyJoZGlkIjoiMzA5ODJjZWVlZjFiNDQ4Nzc0ZDJkZjI4YWRmNTY4NWQifQ=="/>
  <p:tag name="RESOURCE_RECORD_KEY" val="{&quot;29&quot;:[50052448,50049410]}"/>
</p:tagLst>
</file>

<file path=ppt/theme/theme1.xml><?xml version="1.0" encoding="utf-8"?>
<a:theme xmlns:a="http://schemas.openxmlformats.org/drawingml/2006/main" name="Office 主题">
  <a:themeElements>
    <a:clrScheme name="绿色">
      <a:dk1>
        <a:sysClr val="windowText" lastClr="000000"/>
      </a:dk1>
      <a:lt1>
        <a:sysClr val="window" lastClr="FFFFFF"/>
      </a:lt1>
      <a:dk2>
        <a:srgbClr val="455F51"/>
      </a:dk2>
      <a:lt2>
        <a:srgbClr val="E3DED1"/>
      </a:lt2>
      <a:accent1>
        <a:srgbClr val="549E39"/>
      </a:accent1>
      <a:accent2>
        <a:srgbClr val="8AB833"/>
      </a:accent2>
      <a:accent3>
        <a:srgbClr val="C0CF3A"/>
      </a:accent3>
      <a:accent4>
        <a:srgbClr val="029676"/>
      </a:accent4>
      <a:accent5>
        <a:srgbClr val="4AB5C4"/>
      </a:accent5>
      <a:accent6>
        <a:srgbClr val="0989B1"/>
      </a:accent6>
      <a:hlink>
        <a:srgbClr val="6B9F25"/>
      </a:hlink>
      <a:folHlink>
        <a:srgbClr val="BA6906"/>
      </a:folHlink>
    </a:clrScheme>
    <a:fontScheme name="Arial Black-Arial">
      <a:majorFont>
        <a:latin typeface="Arial Black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拉斐尔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2936</Words>
  <Application>WPS 演示</Application>
  <PresentationFormat>宽屏</PresentationFormat>
  <Paragraphs>305</Paragraphs>
  <Slides>16</Slides>
  <Notes>16</Notes>
  <HiddenSlides>0</HiddenSlides>
  <MMClips>0</MMClips>
  <ScaleCrop>false</ScaleCrop>
  <HeadingPairs>
    <vt:vector size="6" baseType="variant">
      <vt:variant>
        <vt:lpstr>已用的字体</vt:lpstr>
      </vt:variant>
      <vt:variant>
        <vt:i4>17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16</vt:i4>
      </vt:variant>
    </vt:vector>
  </HeadingPairs>
  <TitlesOfParts>
    <vt:vector size="35" baseType="lpstr">
      <vt:lpstr>Arial</vt:lpstr>
      <vt:lpstr>宋体</vt:lpstr>
      <vt:lpstr>Wingdings</vt:lpstr>
      <vt:lpstr>微软雅黑</vt:lpstr>
      <vt:lpstr>Calibri</vt:lpstr>
      <vt:lpstr>方正小标宋简体</vt:lpstr>
      <vt:lpstr>Times New Roman</vt:lpstr>
      <vt:lpstr>Wingdings</vt:lpstr>
      <vt:lpstr>黑体</vt:lpstr>
      <vt:lpstr>Arial Unicode MS</vt:lpstr>
      <vt:lpstr>Arial Black</vt:lpstr>
      <vt:lpstr>KSOFBDA573BA</vt:lpstr>
      <vt:lpstr>JetBrains Mono</vt:lpstr>
      <vt:lpstr>等线 Light</vt:lpstr>
      <vt:lpstr>等线</vt:lpstr>
      <vt:lpstr>Calibri</vt:lpstr>
      <vt:lpstr>方正小标宋简体</vt:lpstr>
      <vt:lpstr>Office 主题</vt:lpstr>
      <vt:lpstr>拉斐尔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基础架构处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SafeOps Agent 答辩演示</dc:title>
  <dc:creator>ZK</dc:creator>
  <cp:lastModifiedBy>鲍灿辉</cp:lastModifiedBy>
  <cp:revision>15</cp:revision>
  <dcterms:created xsi:type="dcterms:W3CDTF">2025-06-30T08:12:00Z</dcterms:created>
  <dcterms:modified xsi:type="dcterms:W3CDTF">2026-07-11T08:24:01Z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2052-12.1.0.26895</vt:lpwstr>
  </property>
  <property fmtid="{D5CDD505-2E9C-101B-9397-08002B2CF9AE}" pid="3" name="ICV">
    <vt:lpwstr>46BC11F8646F49AD94D1A67D51369191_13</vt:lpwstr>
  </property>
</Properties>
</file>